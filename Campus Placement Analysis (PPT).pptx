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1" r:id="rId6"/>
    <p:sldId id="264" r:id="rId7"/>
    <p:sldId id="275" r:id="rId8"/>
    <p:sldId id="260" r:id="rId9"/>
    <p:sldId id="262" r:id="rId10"/>
    <p:sldId id="270" r:id="rId11"/>
    <p:sldId id="271" r:id="rId12"/>
    <p:sldId id="277" r:id="rId13"/>
    <p:sldId id="276" r:id="rId14"/>
    <p:sldId id="272" r:id="rId15"/>
    <p:sldId id="273" r:id="rId16"/>
    <p:sldId id="274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5BA556-08AF-9E9D-347A-AAB69B65AE00}" v="2106" dt="2026-04-13T07:35:59.591"/>
    <p1510:client id="{6636B208-AFE5-5525-33F3-68A2338663FE}" v="216" dt="2026-04-11T13:27:00.401"/>
    <p1510:client id="{CBC3E3D7-0BC4-60B4-D7DD-A2B83E66E4B3}" v="4437" dt="2026-04-11T12:40:51.9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110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B2B3C3-A7AB-4651-A1B6-4DFBAD1073BD}" type="datetimeFigureOut">
              <a:t>4/15/2026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ED2347-111A-4C95-810F-96821099E00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680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>
                <a:solidFill>
                  <a:schemeClr val="accent1"/>
                </a:solidFill>
              </a:rPr>
              <a:t>Z-Test: There is a significant difference in Technical Scores (Z ≈ -9.20, p ≈ 3.5e-20), but higher technical scores do not guarantee placement (Avg Technical Score: Placed ≈ 62.82, Not Placed ≈ 64.39), showing that other factors also influence placement.</a:t>
            </a:r>
            <a:endParaRPr lang="en-US" b="1"/>
          </a:p>
          <a:p>
            <a:r>
              <a:rPr lang="en-US" b="1">
                <a:solidFill>
                  <a:schemeClr val="accent1"/>
                </a:solidFill>
              </a:rPr>
              <a:t>Chi-Test: A strong relationship exists (χ² ≈ 461, p ≈ 0.0), where students with internships (≈ 4776 placed) are significantly more likely to get placed compared to those without internships (≈ 1162 placed).</a:t>
            </a:r>
            <a:endParaRPr lang="en-US" b="1" dirty="0">
              <a:solidFill>
                <a:schemeClr val="accent1"/>
              </a:solidFill>
              <a:ea typeface="Calibri"/>
              <a:cs typeface="Calibri"/>
            </a:endParaRPr>
          </a:p>
          <a:p>
            <a:endParaRPr lang="en-US" b="1" dirty="0">
              <a:solidFill>
                <a:schemeClr val="accent1"/>
              </a:solidFill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D2347-111A-4C95-810F-96821099E003}" type="slidenum"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5234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D2347-111A-4C95-810F-96821099E003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9011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>
                <a:solidFill>
                  <a:schemeClr val="accent4"/>
                </a:solidFill>
              </a:rPr>
              <a:t>Model performance was Silhouette Score : 55% which is an average model</a:t>
            </a:r>
            <a:endParaRPr lang="en-US">
              <a:solidFill>
                <a:schemeClr val="accent4"/>
              </a:solidFill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D2347-111A-4C95-810F-96821099E003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886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8205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692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111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2696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7031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696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3886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1503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219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67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4536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411685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46810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36898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64391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1151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6666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6291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0A92C26-0686-190D-DDD7-A4D02808C1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DBA18DB-DF07-FC14-CA34-B0596414FC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3426" y="1410719"/>
            <a:ext cx="12192000" cy="1048958"/>
          </a:xfrm>
        </p:spPr>
        <p:txBody>
          <a:bodyPr>
            <a:normAutofit/>
          </a:bodyPr>
          <a:lstStyle/>
          <a:p>
            <a:pPr algn="l"/>
            <a:r>
              <a:rPr lang="en-IN" sz="5400" dirty="0">
                <a:solidFill>
                  <a:schemeClr val="tx1"/>
                </a:solidFill>
                <a:latin typeface="Elephant"/>
              </a:rPr>
              <a:t>Campus Placement Analysis</a:t>
            </a:r>
            <a:endParaRPr lang="en-IN" sz="5400">
              <a:solidFill>
                <a:schemeClr val="tx1"/>
              </a:solidFill>
              <a:latin typeface="Century Gothic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0B9529-C836-8E03-EAC0-AF06E85E5E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29828" y="4185350"/>
            <a:ext cx="6246726" cy="1075069"/>
          </a:xfrm>
        </p:spPr>
        <p:txBody>
          <a:bodyPr>
            <a:normAutofit/>
          </a:bodyPr>
          <a:lstStyle/>
          <a:p>
            <a:pPr algn="ctr"/>
            <a:r>
              <a:rPr lang="en-IN" sz="2400">
                <a:solidFill>
                  <a:schemeClr val="tx1"/>
                </a:solidFill>
                <a:latin typeface="Elephant"/>
              </a:rPr>
              <a:t>From batch</a:t>
            </a:r>
            <a:r>
              <a:rPr lang="en-IN">
                <a:solidFill>
                  <a:schemeClr val="tx1"/>
                </a:solidFill>
                <a:latin typeface="Elephant"/>
              </a:rPr>
              <a:t>: da614s61</a:t>
            </a:r>
            <a:endParaRPr lang="en-US">
              <a:solidFill>
                <a:schemeClr val="tx1"/>
              </a:solidFill>
              <a:latin typeface="Elephant"/>
            </a:endParaRPr>
          </a:p>
          <a:p>
            <a:pPr algn="ctr"/>
            <a:r>
              <a:rPr lang="en-IN" sz="2400" dirty="0">
                <a:solidFill>
                  <a:schemeClr val="tx1"/>
                </a:solidFill>
                <a:latin typeface="Elephant"/>
              </a:rPr>
              <a:t>Project guide: </a:t>
            </a:r>
            <a:r>
              <a:rPr lang="en-IN" dirty="0" err="1">
                <a:solidFill>
                  <a:schemeClr val="tx1"/>
                </a:solidFill>
                <a:latin typeface="Elephant"/>
              </a:rPr>
              <a:t>komilla</a:t>
            </a:r>
            <a:r>
              <a:rPr lang="en-IN" dirty="0">
                <a:solidFill>
                  <a:schemeClr val="tx1"/>
                </a:solidFill>
                <a:latin typeface="Elephant"/>
              </a:rPr>
              <a:t> </a:t>
            </a:r>
            <a:r>
              <a:rPr lang="en-IN" dirty="0" err="1">
                <a:solidFill>
                  <a:schemeClr val="tx1"/>
                </a:solidFill>
                <a:latin typeface="Elephant"/>
              </a:rPr>
              <a:t>bhatia</a:t>
            </a:r>
            <a:endParaRPr lang="en-IN" dirty="0">
              <a:solidFill>
                <a:schemeClr val="tx1"/>
              </a:solidFill>
              <a:latin typeface="Elephant"/>
            </a:endParaRPr>
          </a:p>
          <a:p>
            <a:pPr algn="ctr"/>
            <a:endParaRPr lang="en-IN" dirty="0">
              <a:solidFill>
                <a:schemeClr val="tx1"/>
              </a:solidFill>
              <a:latin typeface="Elephan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49E3CC-9FD5-F7BE-8578-0796871F4866}"/>
              </a:ext>
            </a:extLst>
          </p:cNvPr>
          <p:cNvSpPr txBox="1"/>
          <p:nvPr/>
        </p:nvSpPr>
        <p:spPr>
          <a:xfrm>
            <a:off x="2863780" y="2461845"/>
            <a:ext cx="5774452" cy="15132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ts val="1000"/>
              </a:spcBef>
            </a:pPr>
            <a:r>
              <a:rPr lang="en-US" sz="2800" cap="all">
                <a:latin typeface="Elephant"/>
              </a:rPr>
              <a:t>By</a:t>
            </a:r>
            <a:endParaRPr lang="en-US" sz="2800">
              <a:latin typeface="Elephant"/>
            </a:endParaRPr>
          </a:p>
          <a:p>
            <a:pPr algn="ctr">
              <a:spcBef>
                <a:spcPts val="1000"/>
              </a:spcBef>
            </a:pPr>
            <a:r>
              <a:rPr lang="en-US" sz="2800" cap="all" dirty="0">
                <a:latin typeface="Elephant"/>
              </a:rPr>
              <a:t>Upender </a:t>
            </a:r>
            <a:r>
              <a:rPr lang="en-US" sz="2800" cap="all" dirty="0" err="1">
                <a:latin typeface="Elephant"/>
              </a:rPr>
              <a:t>Taliyan</a:t>
            </a:r>
            <a:endParaRPr lang="en-IN" sz="2800">
              <a:latin typeface="Elephant"/>
            </a:endParaRPr>
          </a:p>
          <a:p>
            <a:pPr algn="l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813077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2E9D0-C6DC-9951-36F0-E717DDFB2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AE213-C292-5512-5BFE-B71AB8C73E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8825658" cy="1089964"/>
          </a:xfrm>
        </p:spPr>
        <p:txBody>
          <a:bodyPr/>
          <a:lstStyle/>
          <a:p>
            <a:r>
              <a:rPr lang="en-IN" dirty="0">
                <a:solidFill>
                  <a:schemeClr val="bg2">
                    <a:lumMod val="20000"/>
                    <a:lumOff val="80000"/>
                  </a:schemeClr>
                </a:solidFill>
                <a:latin typeface="Elephant" panose="02020904090505020303" pitchFamily="18" charset="0"/>
              </a:rPr>
              <a:t>Business Problem</a:t>
            </a:r>
            <a:endParaRPr lang="en-IN"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418CF3-7774-6D45-DA5E-19302B91E580}"/>
              </a:ext>
            </a:extLst>
          </p:cNvPr>
          <p:cNvSpPr txBox="1"/>
          <p:nvPr/>
        </p:nvSpPr>
        <p:spPr>
          <a:xfrm>
            <a:off x="0" y="1479000"/>
            <a:ext cx="12192000" cy="424911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>
                <a:solidFill>
                  <a:schemeClr val="bg2">
                    <a:lumMod val="40000"/>
                    <a:lumOff val="60000"/>
                  </a:schemeClr>
                </a:solidFill>
                <a:latin typeface="Aptos"/>
              </a:rPr>
              <a:t>The institute is facing Student Placement Crisis:</a:t>
            </a:r>
            <a:endParaRPr lang="en-IN" sz="3200" b="1">
              <a:solidFill>
                <a:schemeClr val="bg2">
                  <a:lumMod val="40000"/>
                  <a:lumOff val="60000"/>
                </a:schemeClr>
              </a:solidFill>
              <a:latin typeface="Aptos"/>
            </a:endParaRPr>
          </a:p>
          <a:p>
            <a:pPr marL="342900" lvl="0" indent="-342900">
              <a:lnSpc>
                <a:spcPct val="150000"/>
              </a:lnSpc>
              <a:buFont typeface="Wingdings" panose="020B0502020202020204"/>
              <a:buChar char="Ø"/>
            </a:pPr>
            <a:r>
              <a:rPr lang="en-US" sz="2600" dirty="0">
                <a:latin typeface="Aptos"/>
              </a:rPr>
              <a:t>A large number of students graduate without securing placements</a:t>
            </a:r>
            <a:endParaRPr lang="en-IN" sz="2600">
              <a:latin typeface="Aptos"/>
            </a:endParaRPr>
          </a:p>
          <a:p>
            <a:pPr marL="342900" lvl="0" indent="-342900">
              <a:lnSpc>
                <a:spcPct val="150000"/>
              </a:lnSpc>
              <a:buFont typeface="Wingdings" panose="020B0502020202020204"/>
              <a:buChar char="Ø"/>
            </a:pPr>
            <a:r>
              <a:rPr lang="en-US" sz="2600" dirty="0">
                <a:latin typeface="Aptos"/>
              </a:rPr>
              <a:t>No clarity on which factors actually improve placement chances</a:t>
            </a:r>
            <a:endParaRPr lang="en-IN" sz="2600">
              <a:latin typeface="Aptos"/>
            </a:endParaRPr>
          </a:p>
          <a:p>
            <a:pPr marL="342900" lvl="0" indent="-342900">
              <a:lnSpc>
                <a:spcPct val="150000"/>
              </a:lnSpc>
              <a:buFont typeface="Wingdings" panose="020B0502020202020204"/>
              <a:buChar char="Ø"/>
            </a:pPr>
            <a:r>
              <a:rPr lang="en-US" sz="2600" dirty="0">
                <a:latin typeface="Aptos"/>
              </a:rPr>
              <a:t>Huge variation in salary packages (CTC) with no explanation</a:t>
            </a:r>
            <a:endParaRPr lang="en-IN" sz="2600">
              <a:latin typeface="Aptos"/>
            </a:endParaRPr>
          </a:p>
          <a:p>
            <a:pPr marL="342900" lvl="0" indent="-342900">
              <a:lnSpc>
                <a:spcPct val="150000"/>
              </a:lnSpc>
              <a:buFont typeface="Wingdings" panose="020B0502020202020204"/>
              <a:buChar char="Ø"/>
            </a:pPr>
            <a:r>
              <a:rPr lang="en-US" sz="2600" dirty="0">
                <a:latin typeface="Aptos"/>
              </a:rPr>
              <a:t>Students invest time in wrong skills, unaware of recruiter expectations</a:t>
            </a:r>
            <a:endParaRPr lang="en-IN" sz="2600">
              <a:latin typeface="Aptos"/>
            </a:endParaRPr>
          </a:p>
          <a:p>
            <a:pPr marL="342900" lvl="0" indent="-342900">
              <a:lnSpc>
                <a:spcPct val="150000"/>
              </a:lnSpc>
              <a:buFont typeface="Wingdings" panose="020B0502020202020204"/>
              <a:buChar char="Ø"/>
            </a:pPr>
            <a:r>
              <a:rPr lang="en-US" sz="2600" dirty="0">
                <a:latin typeface="Aptos"/>
              </a:rPr>
              <a:t>Colleges cannot guide students effectively without data-backed insights</a:t>
            </a:r>
            <a:endParaRPr lang="en-IN" sz="2600" dirty="0">
              <a:latin typeface="Aptos"/>
            </a:endParaRPr>
          </a:p>
          <a:p>
            <a:pPr>
              <a:lnSpc>
                <a:spcPct val="150000"/>
              </a:lnSpc>
            </a:pPr>
            <a:endParaRPr lang="en-IN" sz="20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1754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6886A-DD69-FCE8-7455-9678D56FB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61B48-8187-CA16-A386-F1564A6C86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419"/>
            <a:ext cx="12192000" cy="1789015"/>
          </a:xfrm>
        </p:spPr>
        <p:txBody>
          <a:bodyPr/>
          <a:lstStyle/>
          <a:p>
            <a:r>
              <a:rPr lang="en-IN" dirty="0">
                <a:solidFill>
                  <a:schemeClr val="bg2">
                    <a:lumMod val="20000"/>
                    <a:lumOff val="80000"/>
                  </a:schemeClr>
                </a:solidFill>
                <a:latin typeface="Elephant"/>
              </a:rPr>
              <a:t>Business Objectives</a:t>
            </a:r>
            <a:br>
              <a:rPr lang="en-US" sz="2000" dirty="0">
                <a:latin typeface="Elephant" panose="02020904090505020303" pitchFamily="18" charset="0"/>
              </a:rPr>
            </a:br>
            <a:r>
              <a:rPr lang="en-US" sz="2400">
                <a:solidFill>
                  <a:schemeClr val="bg2">
                    <a:lumMod val="20000"/>
                    <a:lumOff val="80000"/>
                  </a:schemeClr>
                </a:solidFill>
                <a:latin typeface="Elephant"/>
              </a:rPr>
              <a:t>My Role as an analyst is to support the institute to achieve the following:- </a:t>
            </a:r>
            <a:br>
              <a:rPr lang="en-US" sz="2000" dirty="0">
                <a:solidFill>
                  <a:schemeClr val="bg2">
                    <a:lumMod val="20000"/>
                    <a:lumOff val="80000"/>
                  </a:schemeClr>
                </a:solidFill>
              </a:rPr>
            </a:br>
            <a:endParaRPr lang="en-IN" sz="2000"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CA3391-4971-94F4-7BF5-FA79CC664B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196547"/>
            <a:ext cx="11787809" cy="3697357"/>
          </a:xfrm>
        </p:spPr>
        <p:txBody>
          <a:bodyPr>
            <a:noAutofit/>
          </a:bodyPr>
          <a:lstStyle/>
          <a:p>
            <a:r>
              <a:rPr lang="en-US" sz="2400" b="1" cap="none" dirty="0">
                <a:latin typeface="Aptos"/>
              </a:rPr>
              <a:t>A) </a:t>
            </a:r>
            <a:r>
              <a:rPr lang="en-US" sz="2400" b="1" cap="none" dirty="0" err="1">
                <a:latin typeface="Aptos"/>
              </a:rPr>
              <a:t>Analyse</a:t>
            </a:r>
            <a:r>
              <a:rPr lang="en-US" sz="2400" b="1" cap="none" dirty="0">
                <a:latin typeface="Aptos"/>
              </a:rPr>
              <a:t> Historical Data:-</a:t>
            </a:r>
          </a:p>
          <a:p>
            <a:pPr marL="342900" indent="-342900">
              <a:buFont typeface="Wingdings" panose="020B0502020202020204"/>
              <a:buChar char="Ø"/>
            </a:pPr>
            <a:r>
              <a:rPr lang="en-US" sz="1800" cap="none" dirty="0">
                <a:solidFill>
                  <a:schemeClr val="tx1"/>
                </a:solidFill>
                <a:latin typeface="Aptos"/>
              </a:rPr>
              <a:t>Placement drives identify which factors increase chances of placement among "placed" students</a:t>
            </a:r>
          </a:p>
          <a:p>
            <a:pPr marL="342900" indent="-342900">
              <a:buFont typeface="Wingdings" panose="020B0502020202020204"/>
              <a:buChar char="Ø"/>
            </a:pPr>
            <a:r>
              <a:rPr lang="en-US" sz="1800" cap="none" dirty="0">
                <a:solidFill>
                  <a:schemeClr val="tx1"/>
                </a:solidFill>
                <a:latin typeface="Aptos"/>
              </a:rPr>
              <a:t>CTC predictors identify which factors lead to higher salary (CTC_LPA) for placed students</a:t>
            </a:r>
          </a:p>
          <a:p>
            <a:br>
              <a:rPr lang="en-US" sz="1600" cap="none" dirty="0">
                <a:latin typeface="Aptos" panose="020B0004020202020204" pitchFamily="34" charset="0"/>
              </a:rPr>
            </a:br>
            <a:r>
              <a:rPr lang="en-US" sz="2400" b="1" cap="none">
                <a:latin typeface="Aptos"/>
              </a:rPr>
              <a:t>B) Recommend Strategies:-</a:t>
            </a:r>
          </a:p>
          <a:p>
            <a:pPr marL="342900" indent="-342900">
              <a:buFont typeface="Wingdings" panose="020B0502020202020204"/>
              <a:buChar char="Ø"/>
            </a:pPr>
            <a:r>
              <a:rPr lang="en-US" sz="1800" cap="none" dirty="0">
                <a:solidFill>
                  <a:schemeClr val="tx1"/>
                </a:solidFill>
                <a:latin typeface="Aptos"/>
              </a:rPr>
              <a:t>Improve placement suggest how "not placed" students can move to "placed“</a:t>
            </a:r>
          </a:p>
          <a:p>
            <a:pPr marL="342900" indent="-342900">
              <a:buFont typeface="Wingdings" panose="020B0502020202020204"/>
              <a:buChar char="Ø"/>
            </a:pPr>
            <a:r>
              <a:rPr lang="en-US" sz="1800" cap="none">
                <a:solidFill>
                  <a:schemeClr val="tx1"/>
                </a:solidFill>
                <a:latin typeface="Aptos"/>
              </a:rPr>
              <a:t>Boosts salary and suggest which skill sets help students earn a higher CTC package</a:t>
            </a:r>
          </a:p>
          <a:p>
            <a:endParaRPr lang="en-IN" sz="1600" cap="none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endParaRPr lang="en-IN" sz="1600" cap="none" dirty="0">
              <a:solidFill>
                <a:schemeClr val="bg2">
                  <a:lumMod val="20000"/>
                  <a:lumOff val="8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3555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B7847-16A2-5D56-2687-5D6DF75C5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BD12B-02C4-4F1D-933B-BFBF54E1FE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67"/>
            <a:ext cx="10046445" cy="1209233"/>
          </a:xfrm>
        </p:spPr>
        <p:txBody>
          <a:bodyPr/>
          <a:lstStyle/>
          <a:p>
            <a:r>
              <a:rPr lang="en-IN" dirty="0">
                <a:solidFill>
                  <a:schemeClr val="bg2">
                    <a:lumMod val="20000"/>
                    <a:lumOff val="80000"/>
                  </a:schemeClr>
                </a:solidFill>
                <a:latin typeface="Elephant" panose="02020904090505020303" pitchFamily="18" charset="0"/>
              </a:rPr>
              <a:t>Dataset Description</a:t>
            </a:r>
            <a:endParaRPr lang="en-IN"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4AC422-21BB-0409-DEE9-DD7BDCF41813}"/>
              </a:ext>
            </a:extLst>
          </p:cNvPr>
          <p:cNvSpPr txBox="1"/>
          <p:nvPr/>
        </p:nvSpPr>
        <p:spPr>
          <a:xfrm>
            <a:off x="0" y="1225571"/>
            <a:ext cx="12192000" cy="6924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1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Aptos"/>
              </a:rPr>
              <a:t>The dataset contains the following 3 tables :</a:t>
            </a:r>
            <a:r>
              <a:rPr lang="en-IN" sz="19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Aptos"/>
                <a:ea typeface="+mn-lt"/>
                <a:cs typeface="+mn-lt"/>
              </a:rPr>
              <a:t> </a:t>
            </a:r>
            <a:r>
              <a:rPr lang="en-IN" sz="1900" dirty="0">
                <a:solidFill>
                  <a:schemeClr val="bg2">
                    <a:lumMod val="40000"/>
                    <a:lumOff val="60000"/>
                  </a:schemeClr>
                </a:solidFill>
                <a:latin typeface="Aptos"/>
                <a:ea typeface="+mn-lt"/>
                <a:cs typeface="+mn-lt"/>
              </a:rPr>
              <a:t>Placement Record , Student Profile , Academic Skills</a:t>
            </a:r>
            <a:endParaRPr lang="en-IN" sz="1900" b="1" dirty="0">
              <a:solidFill>
                <a:schemeClr val="bg2">
                  <a:lumMod val="40000"/>
                  <a:lumOff val="60000"/>
                </a:schemeClr>
              </a:solidFill>
              <a:latin typeface="Apto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C6370D-60EF-4AC0-741B-6C743D30AE4B}"/>
              </a:ext>
            </a:extLst>
          </p:cNvPr>
          <p:cNvSpPr txBox="1"/>
          <p:nvPr/>
        </p:nvSpPr>
        <p:spPr>
          <a:xfrm>
            <a:off x="0" y="1712139"/>
            <a:ext cx="12192000" cy="9694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Wingdings"/>
              <a:buChar char="q"/>
            </a:pPr>
            <a:r>
              <a:rPr lang="en-US" sz="2100" b="1">
                <a:solidFill>
                  <a:schemeClr val="bg2">
                    <a:lumMod val="40000"/>
                    <a:lumOff val="60000"/>
                  </a:schemeClr>
                </a:solidFill>
                <a:latin typeface="Aptos"/>
              </a:rPr>
              <a:t>Real-World Data Challenges:-</a:t>
            </a:r>
            <a:endParaRPr lang="en-US"/>
          </a:p>
          <a:p>
            <a:pPr marL="285750" indent="-285750">
              <a:buFont typeface="Wingdings" panose="020B0604020202020204" pitchFamily="34" charset="0"/>
              <a:buChar char="q"/>
            </a:pPr>
            <a:r>
              <a:rPr lang="en-US" dirty="0">
                <a:latin typeface="Aptos"/>
              </a:rPr>
              <a:t>The dataset was messy, inconsistent, and logically incorrect in some cases </a:t>
            </a:r>
          </a:p>
          <a:p>
            <a:pPr marL="285750" indent="-285750">
              <a:buFont typeface="Wingdings" panose="020B0604020202020204" pitchFamily="34" charset="0"/>
              <a:buChar char="q"/>
            </a:pPr>
            <a:r>
              <a:rPr lang="en-US" dirty="0">
                <a:latin typeface="Aptos"/>
              </a:rPr>
              <a:t>The department did not </a:t>
            </a:r>
            <a:r>
              <a:rPr lang="en-US" dirty="0" err="1">
                <a:latin typeface="Aptos"/>
              </a:rPr>
              <a:t>mention</a:t>
            </a:r>
            <a:r>
              <a:rPr lang="en-US" dirty="0">
                <a:latin typeface="Aptos"/>
              </a:rPr>
              <a:t>ed the degree correctly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747733-1BB1-9802-7A63-8C28B4194B55}"/>
              </a:ext>
            </a:extLst>
          </p:cNvPr>
          <p:cNvSpPr txBox="1"/>
          <p:nvPr/>
        </p:nvSpPr>
        <p:spPr>
          <a:xfrm>
            <a:off x="117231" y="4760367"/>
            <a:ext cx="11136414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IN" sz="2100" b="1" dirty="0">
              <a:solidFill>
                <a:schemeClr val="bg2">
                  <a:lumMod val="40000"/>
                  <a:lumOff val="60000"/>
                </a:schemeClr>
              </a:solidFill>
              <a:latin typeface="Aptos"/>
            </a:endParaRPr>
          </a:p>
          <a:p>
            <a:pPr marL="342900" indent="-342900">
              <a:buFont typeface="Wingdings"/>
              <a:buChar char="Ø"/>
            </a:pPr>
            <a:r>
              <a:rPr lang="en-IN" sz="2100" b="1">
                <a:solidFill>
                  <a:schemeClr val="bg2">
                    <a:lumMod val="40000"/>
                    <a:lumOff val="60000"/>
                  </a:schemeClr>
                </a:solidFill>
                <a:latin typeface="Aptos"/>
              </a:rPr>
              <a:t>Data Cleaning &amp; Fixes Applied:-</a:t>
            </a:r>
            <a:endParaRPr lang="en-IN" sz="2100" b="1" dirty="0">
              <a:solidFill>
                <a:schemeClr val="bg2">
                  <a:lumMod val="40000"/>
                  <a:lumOff val="60000"/>
                </a:schemeClr>
              </a:solidFill>
              <a:latin typeface="Aptos"/>
            </a:endParaRPr>
          </a:p>
          <a:p>
            <a:pPr marL="285750" indent="-285750">
              <a:buFont typeface="Wingdings"/>
              <a:buChar char="Ø"/>
            </a:pPr>
            <a:r>
              <a:rPr lang="en-IN" sz="2000" b="1">
                <a:solidFill>
                  <a:schemeClr val="bg2">
                    <a:lumMod val="40000"/>
                    <a:lumOff val="60000"/>
                  </a:schemeClr>
                </a:solidFill>
                <a:latin typeface="Aptos"/>
                <a:ea typeface="+mn-lt"/>
                <a:cs typeface="+mn-lt"/>
              </a:rPr>
              <a:t> Degree &amp; Department Issues</a:t>
            </a:r>
            <a:r>
              <a:rPr lang="en-IN" sz="2000" b="1" dirty="0">
                <a:latin typeface="Aptos"/>
                <a:ea typeface="+mn-lt"/>
                <a:cs typeface="+mn-lt"/>
              </a:rPr>
              <a:t> </a:t>
            </a:r>
            <a:r>
              <a:rPr lang="en-IN" dirty="0">
                <a:latin typeface="Aptos"/>
                <a:ea typeface="+mn-lt"/>
                <a:cs typeface="+mn-lt"/>
              </a:rPr>
              <a:t>→ Standardized using domain knowledge </a:t>
            </a:r>
            <a:endParaRPr lang="en-IN" dirty="0">
              <a:latin typeface="Aptos"/>
            </a:endParaRPr>
          </a:p>
          <a:p>
            <a:pPr marL="285750" indent="-285750">
              <a:buFont typeface="Wingdings"/>
              <a:buChar char="Ø"/>
            </a:pPr>
            <a:r>
              <a:rPr lang="en-IN" sz="2000" b="1">
                <a:solidFill>
                  <a:schemeClr val="bg2">
                    <a:lumMod val="40000"/>
                    <a:lumOff val="60000"/>
                  </a:schemeClr>
                </a:solidFill>
                <a:latin typeface="Aptos"/>
                <a:ea typeface="+mn-lt"/>
                <a:cs typeface="+mn-lt"/>
              </a:rPr>
              <a:t> Invalid CGPA Values </a:t>
            </a:r>
            <a:r>
              <a:rPr lang="en-IN">
                <a:latin typeface="Aptos"/>
                <a:ea typeface="+mn-lt"/>
                <a:cs typeface="+mn-lt"/>
              </a:rPr>
              <a:t>→ Corrected values greater than 10 </a:t>
            </a:r>
            <a:endParaRPr lang="en-IN" dirty="0">
              <a:latin typeface="Aptos"/>
            </a:endParaRPr>
          </a:p>
          <a:p>
            <a:pPr marL="285750" indent="-285750">
              <a:buFont typeface="Wingdings"/>
              <a:buChar char="Ø"/>
            </a:pPr>
            <a:r>
              <a:rPr lang="en-IN" sz="2000" b="1">
                <a:solidFill>
                  <a:schemeClr val="bg2">
                    <a:lumMod val="40000"/>
                    <a:lumOff val="60000"/>
                  </a:schemeClr>
                </a:solidFill>
                <a:latin typeface="Aptos"/>
                <a:ea typeface="+mn-lt"/>
                <a:cs typeface="+mn-lt"/>
              </a:rPr>
              <a:t> Incorrect Placement Statu</a:t>
            </a:r>
            <a:r>
              <a:rPr lang="en-IN">
                <a:latin typeface="Aptos"/>
                <a:ea typeface="+mn-lt"/>
                <a:cs typeface="+mn-lt"/>
              </a:rPr>
              <a:t>s→ Records with CTC &gt; 0 but marked as </a:t>
            </a:r>
            <a:r>
              <a:rPr lang="en-IN" i="1">
                <a:latin typeface="Aptos"/>
                <a:ea typeface="+mn-lt"/>
                <a:cs typeface="+mn-lt"/>
              </a:rPr>
              <a:t>Not Placed</a:t>
            </a:r>
            <a:r>
              <a:rPr lang="en-IN">
                <a:latin typeface="Aptos"/>
                <a:ea typeface="+mn-lt"/>
                <a:cs typeface="+mn-lt"/>
              </a:rPr>
              <a:t> were corrected to </a:t>
            </a:r>
            <a:r>
              <a:rPr lang="en-IN" i="1">
                <a:latin typeface="Aptos"/>
                <a:ea typeface="+mn-lt"/>
                <a:cs typeface="+mn-lt"/>
              </a:rPr>
              <a:t>Placed</a:t>
            </a:r>
            <a:r>
              <a:rPr lang="en-IN" dirty="0">
                <a:latin typeface="Aptos"/>
                <a:ea typeface="+mn-lt"/>
                <a:cs typeface="+mn-lt"/>
              </a:rPr>
              <a:t> </a:t>
            </a:r>
            <a:endParaRPr lang="en-IN" dirty="0">
              <a:latin typeface="Aptos"/>
            </a:endParaRPr>
          </a:p>
          <a:p>
            <a:endParaRPr lang="en-IN" dirty="0">
              <a:latin typeface="Aptos"/>
            </a:endParaRPr>
          </a:p>
        </p:txBody>
      </p:sp>
      <p:pic>
        <p:nvPicPr>
          <p:cNvPr id="10" name="Picture 9" descr="A blue background with black text&#10;&#10;AI-generated content may be incorrect.">
            <a:extLst>
              <a:ext uri="{FF2B5EF4-FFF2-40B4-BE49-F238E27FC236}">
                <a16:creationId xmlns:a16="http://schemas.microsoft.com/office/drawing/2014/main" id="{F047E17C-3923-54B6-F08F-279D6AB094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69" r="412" b="-708"/>
          <a:stretch>
            <a:fillRect/>
          </a:stretch>
        </p:blipFill>
        <p:spPr>
          <a:xfrm>
            <a:off x="4654533" y="3347254"/>
            <a:ext cx="2062491" cy="1437488"/>
          </a:xfrm>
          <a:prstGeom prst="rect">
            <a:avLst/>
          </a:prstGeom>
        </p:spPr>
      </p:pic>
      <p:pic>
        <p:nvPicPr>
          <p:cNvPr id="11" name="Picture 10" descr="A blue sign with black text&#10;&#10;AI-generated content may be incorrect.">
            <a:extLst>
              <a:ext uri="{FF2B5EF4-FFF2-40B4-BE49-F238E27FC236}">
                <a16:creationId xmlns:a16="http://schemas.microsoft.com/office/drawing/2014/main" id="{D408009E-ED5C-E313-6B5A-455776B899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7291" y="3349713"/>
            <a:ext cx="4562475" cy="1431366"/>
          </a:xfrm>
          <a:prstGeom prst="rect">
            <a:avLst/>
          </a:prstGeom>
        </p:spPr>
      </p:pic>
      <p:pic>
        <p:nvPicPr>
          <p:cNvPr id="12" name="Picture 11" descr="A blue background with black text&#10;&#10;AI-generated content may be incorrect.">
            <a:extLst>
              <a:ext uri="{FF2B5EF4-FFF2-40B4-BE49-F238E27FC236}">
                <a16:creationId xmlns:a16="http://schemas.microsoft.com/office/drawing/2014/main" id="{4CE75BAF-6246-153F-8984-92FDFDF1EA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843" y="3347410"/>
            <a:ext cx="3571875" cy="14192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BDF0AC0-7D65-D2FE-B092-4C03338E59EF}"/>
              </a:ext>
            </a:extLst>
          </p:cNvPr>
          <p:cNvSpPr txBox="1"/>
          <p:nvPr/>
        </p:nvSpPr>
        <p:spPr>
          <a:xfrm>
            <a:off x="8374" y="2679561"/>
            <a:ext cx="1168623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Aptos"/>
              </a:rPr>
              <a:t>Below snapshots can </a:t>
            </a:r>
            <a:r>
              <a:rPr lang="en-US" sz="2400" b="1" dirty="0" err="1">
                <a:solidFill>
                  <a:schemeClr val="bg2">
                    <a:lumMod val="40000"/>
                    <a:lumOff val="60000"/>
                  </a:schemeClr>
                </a:solidFill>
                <a:latin typeface="Aptos"/>
              </a:rPr>
              <a:t>demostrate</a:t>
            </a:r>
            <a:r>
              <a:rPr lang="en-US" sz="24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Aptos"/>
              </a:rPr>
              <a:t> the issues with the dataset:</a:t>
            </a:r>
          </a:p>
        </p:txBody>
      </p:sp>
    </p:spTree>
    <p:extLst>
      <p:ext uri="{BB962C8B-B14F-4D97-AF65-F5344CB8AC3E}">
        <p14:creationId xmlns:p14="http://schemas.microsoft.com/office/powerpoint/2010/main" val="16980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D172A-9A85-AF0C-AC61-E40EEE086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9BA454E-CD69-EA3F-2352-3B85664BF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24" y="1056177"/>
            <a:ext cx="11700525" cy="442543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EADB31FB-8068-3020-9478-9D6181F66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46" y="5924993"/>
            <a:ext cx="12182461" cy="620708"/>
          </a:xfrm>
        </p:spPr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1800" b="1" dirty="0"/>
              <a:t>The above chart suggests that  from 2025-2026, Placement will observe a sharp decline</a:t>
            </a:r>
            <a:br>
              <a:rPr lang="en-US" sz="1800" b="1" dirty="0"/>
            </a:br>
            <a:r>
              <a:rPr lang="en-US" sz="1800" b="1" dirty="0"/>
              <a:t>It also indicates that from 2026-2027 there will be an upward trend of placements.</a:t>
            </a:r>
            <a:br>
              <a:rPr lang="en-US" sz="1800" b="1" dirty="0"/>
            </a:br>
            <a:endParaRPr lang="en-US" sz="1800" b="1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FBEA00-08E1-CE7A-2AF0-C8CA53AE7DF1}"/>
              </a:ext>
            </a:extLst>
          </p:cNvPr>
          <p:cNvSpPr txBox="1"/>
          <p:nvPr/>
        </p:nvSpPr>
        <p:spPr>
          <a:xfrm>
            <a:off x="259583" y="133978"/>
            <a:ext cx="1117543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>
                <a:solidFill>
                  <a:schemeClr val="bg2">
                    <a:lumMod val="40000"/>
                    <a:lumOff val="60000"/>
                  </a:schemeClr>
                </a:solidFill>
              </a:rPr>
              <a:t>FORECASTING FUTURE PLACEMENT PERCENTAGE </a:t>
            </a:r>
            <a:endParaRPr lang="en-US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9261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FE90F8-D7A5-FD63-3C6C-2560810F6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lines and numbers&#10;&#10;AI-generated content may be incorrect.">
            <a:extLst>
              <a:ext uri="{FF2B5EF4-FFF2-40B4-BE49-F238E27FC236}">
                <a16:creationId xmlns:a16="http://schemas.microsoft.com/office/drawing/2014/main" id="{98085D77-65EB-C987-5136-9951D21977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233" y="1321481"/>
            <a:ext cx="11251188" cy="42192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CF14148-D342-A008-8498-56CABCF9C25D}"/>
              </a:ext>
            </a:extLst>
          </p:cNvPr>
          <p:cNvSpPr txBox="1"/>
          <p:nvPr/>
        </p:nvSpPr>
        <p:spPr>
          <a:xfrm>
            <a:off x="87" y="1483"/>
            <a:ext cx="1167908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>
                <a:solidFill>
                  <a:schemeClr val="bg2">
                    <a:lumMod val="40000"/>
                    <a:lumOff val="60000"/>
                  </a:schemeClr>
                </a:solidFill>
              </a:rPr>
              <a:t>FORECASTING FUTURE CTC LPA</a:t>
            </a:r>
            <a:r>
              <a:rPr lang="en-US" sz="5400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  </a:t>
            </a:r>
            <a:endParaRPr lang="en-US" sz="5400" dirty="0">
              <a:solidFill>
                <a:schemeClr val="bg2">
                  <a:lumMod val="40000"/>
                  <a:lumOff val="60000"/>
                </a:schemeClr>
              </a:solidFill>
            </a:endParaRPr>
          </a:p>
          <a:p>
            <a:pPr algn="ctr"/>
            <a:endParaRPr lang="en-US" sz="5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74127C-3F76-AF65-2EA5-E129CDDAA3D1}"/>
              </a:ext>
            </a:extLst>
          </p:cNvPr>
          <p:cNvSpPr txBox="1"/>
          <p:nvPr/>
        </p:nvSpPr>
        <p:spPr>
          <a:xfrm>
            <a:off x="33494" y="5811296"/>
            <a:ext cx="1213003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000" b="1" dirty="0">
                <a:latin typeface="Aptos"/>
                <a:ea typeface="+mn-lt"/>
                <a:cs typeface="+mn-lt"/>
              </a:rPr>
              <a:t>The above chart suggests that from 2025–2026, the average CTC will observe a notable decline.  </a:t>
            </a:r>
            <a:endParaRPr lang="en-US" sz="2000" b="1">
              <a:latin typeface="Aptos"/>
            </a:endParaRPr>
          </a:p>
          <a:p>
            <a:r>
              <a:rPr lang="en-US" sz="2000" b="1" dirty="0">
                <a:latin typeface="Aptos"/>
                <a:ea typeface="+mn-lt"/>
                <a:cs typeface="+mn-lt"/>
              </a:rPr>
              <a:t>It also indicates that from 2026–2027, there will be a strong upward trend of CTC</a:t>
            </a:r>
            <a:endParaRPr lang="en-US" sz="2000" b="1" dirty="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446289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886E57-FB04-0255-41A8-CDA34C46F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756229C8-F599-00EC-9914-167EFE8282A0}"/>
              </a:ext>
            </a:extLst>
          </p:cNvPr>
          <p:cNvSpPr txBox="1"/>
          <p:nvPr/>
        </p:nvSpPr>
        <p:spPr>
          <a:xfrm>
            <a:off x="821923" y="-821"/>
            <a:ext cx="10475756" cy="12618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>
                <a:solidFill>
                  <a:schemeClr val="bg2">
                    <a:lumMod val="20000"/>
                    <a:lumOff val="80000"/>
                  </a:schemeClr>
                </a:solidFill>
                <a:latin typeface="Aptos"/>
              </a:rPr>
              <a:t>INSIGHT REGARDING PLACEMENT FACTORS</a:t>
            </a:r>
            <a:endParaRPr lang="en-US" sz="4000" b="1" dirty="0">
              <a:solidFill>
                <a:schemeClr val="bg2">
                  <a:lumMod val="20000"/>
                  <a:lumOff val="80000"/>
                </a:schemeClr>
              </a:solidFill>
              <a:latin typeface="Aptos"/>
            </a:endParaRPr>
          </a:p>
          <a:p>
            <a:pPr algn="ctr"/>
            <a:endParaRPr lang="en-US" sz="3600" b="1" dirty="0">
              <a:solidFill>
                <a:schemeClr val="bg2">
                  <a:lumMod val="20000"/>
                  <a:lumOff val="80000"/>
                </a:schemeClr>
              </a:solidFill>
              <a:latin typeface="Aptos"/>
            </a:endParaRPr>
          </a:p>
        </p:txBody>
      </p:sp>
      <p:pic>
        <p:nvPicPr>
          <p:cNvPr id="6" name="Picture 5" descr="A graph with numbers and text&#10;&#10;AI-generated content may be incorrect.">
            <a:extLst>
              <a:ext uri="{FF2B5EF4-FFF2-40B4-BE49-F238E27FC236}">
                <a16:creationId xmlns:a16="http://schemas.microsoft.com/office/drawing/2014/main" id="{FCB71DC2-C8E3-7BEF-47C7-F67B16AFF0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617" y="1139685"/>
            <a:ext cx="5635849" cy="349211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F7A0531-C7B5-9127-E9D9-D1BDBBB3460C}"/>
              </a:ext>
            </a:extLst>
          </p:cNvPr>
          <p:cNvSpPr txBox="1"/>
          <p:nvPr/>
        </p:nvSpPr>
        <p:spPr>
          <a:xfrm>
            <a:off x="-25120" y="4823208"/>
            <a:ext cx="12171902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en-US" b="1" dirty="0">
                <a:latin typeface="Aptos"/>
                <a:ea typeface="+mn-lt"/>
                <a:cs typeface="+mn-lt"/>
              </a:rPr>
              <a:t>The charts suggest that hackathon participation does not positively impact placement, as non-participants have a significantly higher success rate (21.77%) than participants (6.25%).</a:t>
            </a:r>
            <a:endParaRPr lang="en-US"/>
          </a:p>
          <a:p>
            <a:pPr marL="285750" indent="-285750">
              <a:buFont typeface="Wingdings"/>
              <a:buChar char="Ø"/>
            </a:pPr>
            <a:endParaRPr lang="en-US" b="1" dirty="0">
              <a:latin typeface="Aptos"/>
              <a:ea typeface="+mn-lt"/>
              <a:cs typeface="+mn-lt"/>
            </a:endParaRPr>
          </a:p>
          <a:p>
            <a:pPr marL="285750" indent="-285750">
              <a:buFont typeface="Wingdings"/>
              <a:buChar char="Ø"/>
            </a:pPr>
            <a:r>
              <a:rPr lang="en-US" b="1">
                <a:latin typeface="Aptos"/>
                <a:ea typeface="+mn-lt"/>
                <a:cs typeface="+mn-lt"/>
              </a:rPr>
              <a:t>The chart suggests that Data Analysts and Business Analysts lead in high CTC placements, both exceeding 10%. Conversely, roles like Consultant and Software Engineer show a steady decline, with HR Trainees</a:t>
            </a:r>
            <a:r>
              <a:rPr lang="en-US" b="1" dirty="0">
                <a:latin typeface="Aptos"/>
                <a:ea typeface="+mn-lt"/>
                <a:cs typeface="+mn-lt"/>
              </a:rPr>
              <a:t> </a:t>
            </a:r>
            <a:r>
              <a:rPr lang="en-US" b="1">
                <a:latin typeface="Aptos"/>
                <a:ea typeface="+mn-lt"/>
                <a:cs typeface="+mn-lt"/>
              </a:rPr>
              <a:t>receiving the lowest percentage of high-salary offers.</a:t>
            </a:r>
            <a:endParaRPr lang="en-US" b="1" dirty="0">
              <a:latin typeface="Aptos"/>
            </a:endParaRPr>
          </a:p>
          <a:p>
            <a:pPr algn="l"/>
            <a:endParaRPr lang="en-US" b="1" dirty="0">
              <a:latin typeface="Apto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52C8319-BE82-605C-DD53-99451C0189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8244" y="1139266"/>
            <a:ext cx="6115294" cy="348749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017780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1FF78-0CF3-8E5C-C46E-FA4FC5DD0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AA365-66FF-951C-7553-B576E0A80F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657" y="-1"/>
            <a:ext cx="12084089" cy="1148245"/>
          </a:xfrm>
        </p:spPr>
        <p:txBody>
          <a:bodyPr/>
          <a:lstStyle/>
          <a:p>
            <a:pPr algn="ctr"/>
            <a:r>
              <a:rPr lang="en-US" sz="36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INSIGHTS REGARDING WHY STUDENTS ARE NOT GETTING PLACED</a:t>
            </a:r>
            <a:endParaRPr lang="en-IN" sz="3600" b="1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65B006-34F3-36A6-3E51-E5A59B7116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770" y="5064223"/>
            <a:ext cx="12105861" cy="1560444"/>
          </a:xfrm>
        </p:spPr>
        <p:txBody>
          <a:bodyPr>
            <a:noAutofit/>
          </a:bodyPr>
          <a:lstStyle/>
          <a:p>
            <a:pPr marL="342900" indent="-342900">
              <a:buFont typeface="Wingdings" charset="2"/>
              <a:buChar char="q"/>
            </a:pPr>
            <a:r>
              <a:rPr lang="en-US" b="1" cap="none">
                <a:solidFill>
                  <a:schemeClr val="tx1"/>
                </a:solidFill>
                <a:latin typeface="Aptos"/>
              </a:rPr>
              <a:t>Not placed students can improve their chances of placement by improving their:</a:t>
            </a:r>
            <a:endParaRPr lang="en-US"/>
          </a:p>
          <a:p>
            <a:r>
              <a:rPr lang="en-US" sz="1600" b="1" cap="none">
                <a:solidFill>
                  <a:schemeClr val="accent3">
                    <a:lumMod val="40000"/>
                    <a:lumOff val="60000"/>
                  </a:schemeClr>
                </a:solidFill>
                <a:ea typeface="+mj-lt"/>
                <a:cs typeface="+mj-lt"/>
              </a:rPr>
              <a:t>Communication  Skills, Technical Skills, Working on more Projects</a:t>
            </a:r>
            <a:endParaRPr lang="en-US" sz="1800" b="1" cap="none">
              <a:solidFill>
                <a:schemeClr val="accent3">
                  <a:lumMod val="40000"/>
                  <a:lumOff val="60000"/>
                </a:schemeClr>
              </a:solidFill>
              <a:latin typeface="Aptos"/>
              <a:ea typeface="+mj-lt"/>
              <a:cs typeface="+mj-lt"/>
            </a:endParaRPr>
          </a:p>
          <a:p>
            <a:pPr>
              <a:buClr>
                <a:srgbClr val="8AD0D6"/>
              </a:buClr>
              <a:buFont typeface="Wingdings" panose="020B0604020202020204" pitchFamily="34" charset="0"/>
              <a:buChar char="q"/>
            </a:pPr>
            <a:r>
              <a:rPr lang="en-US" b="1" cap="none">
                <a:solidFill>
                  <a:srgbClr val="8AD0D6"/>
                </a:solidFill>
                <a:latin typeface="Aptos"/>
                <a:ea typeface="+mj-lt"/>
                <a:cs typeface="+mj-lt"/>
              </a:rPr>
              <a:t>   Recommendations</a:t>
            </a:r>
            <a:r>
              <a:rPr lang="en-US" b="1" cap="none" dirty="0">
                <a:latin typeface="Aptos"/>
              </a:rPr>
              <a:t>:</a:t>
            </a:r>
            <a:endParaRPr lang="en-US" b="1" cap="none" dirty="0">
              <a:solidFill>
                <a:srgbClr val="FFFFFF"/>
              </a:solidFill>
              <a:latin typeface="Aptos"/>
            </a:endParaRPr>
          </a:p>
          <a:p>
            <a:pPr>
              <a:spcBef>
                <a:spcPts val="0"/>
              </a:spcBef>
              <a:buClr>
                <a:srgbClr val="8AD0D6"/>
              </a:buClr>
            </a:pPr>
            <a:r>
              <a:rPr lang="en-US" sz="1600" b="1" cap="none">
                <a:solidFill>
                  <a:schemeClr val="accent3">
                    <a:lumMod val="40000"/>
                    <a:lumOff val="60000"/>
                  </a:schemeClr>
                </a:solidFill>
                <a:latin typeface="Aptos"/>
              </a:rPr>
              <a:t>More project boost chances of higher CTC</a:t>
            </a:r>
            <a:endParaRPr lang="en-US" sz="1600" b="1" cap="none" dirty="0">
              <a:solidFill>
                <a:schemeClr val="accent3">
                  <a:lumMod val="40000"/>
                  <a:lumOff val="60000"/>
                </a:schemeClr>
              </a:solidFill>
              <a:latin typeface="Aptos"/>
            </a:endParaRPr>
          </a:p>
          <a:p>
            <a:pPr>
              <a:spcBef>
                <a:spcPts val="0"/>
              </a:spcBef>
              <a:buClr>
                <a:srgbClr val="8AD0D6"/>
              </a:buClr>
            </a:pPr>
            <a:r>
              <a:rPr lang="en-US" sz="1600" b="1" cap="none" dirty="0">
                <a:solidFill>
                  <a:schemeClr val="accent3">
                    <a:lumMod val="40000"/>
                    <a:lumOff val="60000"/>
                  </a:schemeClr>
                </a:solidFill>
                <a:latin typeface="Aptos"/>
              </a:rPr>
              <a:t>Better </a:t>
            </a:r>
            <a:r>
              <a:rPr lang="en-US" sz="1600" b="1" cap="none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Aptos"/>
              </a:rPr>
              <a:t>communcitation</a:t>
            </a:r>
            <a:r>
              <a:rPr lang="en-US" sz="1600" b="1" cap="none" dirty="0">
                <a:solidFill>
                  <a:schemeClr val="accent3">
                    <a:lumMod val="40000"/>
                    <a:lumOff val="60000"/>
                  </a:schemeClr>
                </a:solidFill>
                <a:latin typeface="Aptos"/>
              </a:rPr>
              <a:t> and technical score can lead to higher package</a:t>
            </a:r>
          </a:p>
          <a:p>
            <a:pPr marL="285750" indent="-285750">
              <a:buClr>
                <a:srgbClr val="8AD0D6"/>
              </a:buClr>
              <a:buFont typeface="Wingdings" panose="020B0604020202020204" pitchFamily="34" charset="0"/>
              <a:buChar char="q"/>
            </a:pPr>
            <a:endParaRPr lang="en-US" sz="1200" b="1" cap="none" dirty="0">
              <a:solidFill>
                <a:schemeClr val="accent3">
                  <a:lumMod val="40000"/>
                  <a:lumOff val="60000"/>
                </a:schemeClr>
              </a:solidFill>
              <a:latin typeface="Aptos"/>
            </a:endParaRPr>
          </a:p>
          <a:p>
            <a:pPr>
              <a:buClr>
                <a:srgbClr val="1E5155">
                  <a:lumMod val="40000"/>
                  <a:lumOff val="60000"/>
                </a:srgbClr>
              </a:buClr>
            </a:pPr>
            <a:endParaRPr lang="en-IN" sz="1200" b="1" cap="none" dirty="0">
              <a:solidFill>
                <a:srgbClr val="FFFFFF"/>
              </a:solidFill>
              <a:latin typeface="Aptos"/>
            </a:endParaRPr>
          </a:p>
        </p:txBody>
      </p:sp>
      <p:pic>
        <p:nvPicPr>
          <p:cNvPr id="4" name="Picture 3" descr="A graph of a performance&#10;&#10;AI-generated content may be incorrect.">
            <a:extLst>
              <a:ext uri="{FF2B5EF4-FFF2-40B4-BE49-F238E27FC236}">
                <a16:creationId xmlns:a16="http://schemas.microsoft.com/office/drawing/2014/main" id="{FAF9F762-231D-6668-64C6-5A6B84DA8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32" y="1283555"/>
            <a:ext cx="5333512" cy="3421430"/>
          </a:xfrm>
          <a:prstGeom prst="rect">
            <a:avLst/>
          </a:prstGeom>
        </p:spPr>
      </p:pic>
      <p:pic>
        <p:nvPicPr>
          <p:cNvPr id="7" name="Picture 6" descr="A graph of skill gap analysis&#10;&#10;AI-generated content may be incorrect.">
            <a:extLst>
              <a:ext uri="{FF2B5EF4-FFF2-40B4-BE49-F238E27FC236}">
                <a16:creationId xmlns:a16="http://schemas.microsoft.com/office/drawing/2014/main" id="{975733A6-3E00-6C05-796F-A5D6229102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8313" y="1278426"/>
            <a:ext cx="6575914" cy="3431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141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B1F70-27D6-59FD-21D4-981B5CC83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2F49A-2353-2BD2-1992-5A551A6A70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6080"/>
            <a:ext cx="12192000" cy="894421"/>
          </a:xfrm>
        </p:spPr>
        <p:txBody>
          <a:bodyPr/>
          <a:lstStyle/>
          <a:p>
            <a:pPr algn="ctr"/>
            <a:r>
              <a:rPr lang="en-US" sz="3600" b="1">
                <a:solidFill>
                  <a:schemeClr val="bg2">
                    <a:lumMod val="20000"/>
                    <a:lumOff val="80000"/>
                  </a:schemeClr>
                </a:solidFill>
              </a:rPr>
              <a:t>INSIGHTS ON WHICH STUDENTS RECEIVED HIGHER CTC</a:t>
            </a:r>
            <a:endParaRPr lang="en-IN" sz="3600" b="1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2DDF51-DD6E-416C-4BA2-A87B354A88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146" y="5148142"/>
            <a:ext cx="10379457" cy="1706189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cap="none">
                <a:solidFill>
                  <a:schemeClr val="accent3">
                    <a:lumMod val="40000"/>
                    <a:lumOff val="60000"/>
                  </a:schemeClr>
                </a:solidFill>
              </a:rPr>
              <a:t>High CGPA </a:t>
            </a:r>
            <a:r>
              <a:rPr lang="en-US" sz="1800" b="1" cap="none">
                <a:solidFill>
                  <a:schemeClr val="tx1"/>
                </a:solidFill>
              </a:rPr>
              <a:t>improves salary outcomes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cap="none">
                <a:solidFill>
                  <a:schemeClr val="accent3">
                    <a:lumMod val="40000"/>
                    <a:lumOff val="60000"/>
                  </a:schemeClr>
                </a:solidFill>
              </a:rPr>
              <a:t>Internships</a:t>
            </a:r>
            <a:r>
              <a:rPr lang="en-US" sz="1800" b="1" cap="none">
                <a:solidFill>
                  <a:schemeClr val="tx1"/>
                </a:solidFill>
              </a:rPr>
              <a:t> boost chances of higher CTC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cap="none">
                <a:solidFill>
                  <a:schemeClr val="tx1"/>
                </a:solidFill>
              </a:rPr>
              <a:t>These factors help unplaced students achieve </a:t>
            </a:r>
            <a:r>
              <a:rPr lang="en-US" sz="1800" b="1" cap="none">
                <a:solidFill>
                  <a:schemeClr val="accent3">
                    <a:lumMod val="40000"/>
                    <a:lumOff val="60000"/>
                  </a:schemeClr>
                </a:solidFill>
              </a:rPr>
              <a:t>higher CTC</a:t>
            </a:r>
          </a:p>
          <a:p>
            <a:endParaRPr lang="en-IN" sz="1800" b="1" cap="none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939103F-8A70-94E4-F433-5539935F2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4078" y="1295677"/>
            <a:ext cx="5958813" cy="348080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C45E773-B5AB-B0C1-F6F2-5F759E1B60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588" y="1296202"/>
            <a:ext cx="6105457" cy="347496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530287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052C3-913F-487B-9D32-D6A000D3D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33728-D039-54DD-3ACF-57903B9E05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0284984" cy="1052410"/>
          </a:xfrm>
        </p:spPr>
        <p:txBody>
          <a:bodyPr/>
          <a:lstStyle/>
          <a:p>
            <a:r>
              <a:rPr lang="en-IN" dirty="0">
                <a:solidFill>
                  <a:schemeClr val="bg2">
                    <a:lumMod val="20000"/>
                    <a:lumOff val="80000"/>
                  </a:schemeClr>
                </a:solidFill>
                <a:latin typeface="Elephant" panose="02020904090505020303" pitchFamily="18" charset="0"/>
              </a:rPr>
              <a:t>Statistical Approach</a:t>
            </a:r>
            <a:endParaRPr lang="en-IN"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9" name="Subtitle 38">
            <a:extLst>
              <a:ext uri="{FF2B5EF4-FFF2-40B4-BE49-F238E27FC236}">
                <a16:creationId xmlns:a16="http://schemas.microsoft.com/office/drawing/2014/main" id="{CB33ECA8-AFF6-91CC-C05A-05538AEEF73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0241" y="1052410"/>
            <a:ext cx="12220031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00" b="1" cap="none">
                <a:latin typeface="Aptos"/>
              </a:rPr>
              <a:t>Statistics transformed raw student data into actionable placement insights:</a:t>
            </a:r>
            <a:endParaRPr lang="en-US" sz="2700" b="1" cap="none" dirty="0">
              <a:latin typeface="Aptos"/>
            </a:endParaRPr>
          </a:p>
          <a:p>
            <a:endParaRPr lang="en-US" sz="2500" b="1" cap="none" dirty="0">
              <a:latin typeface="Aptos" panose="020B0004020202020204" pitchFamily="34" charset="0"/>
            </a:endParaRPr>
          </a:p>
          <a:p>
            <a:endParaRPr lang="en-US" sz="2500" b="1" cap="none" dirty="0">
              <a:latin typeface="Aptos" panose="020B0004020202020204" pitchFamily="34" charset="0"/>
            </a:endParaRPr>
          </a:p>
          <a:p>
            <a:endParaRPr lang="en-US" sz="2500" b="1" cap="none" dirty="0">
              <a:latin typeface="Aptos" panose="020B0004020202020204" pitchFamily="34" charset="0"/>
            </a:endParaRPr>
          </a:p>
          <a:p>
            <a:endParaRPr lang="en-US" sz="2500" b="1" cap="none" dirty="0">
              <a:latin typeface="Aptos" panose="020B0004020202020204" pitchFamily="34" charset="0"/>
            </a:endParaRPr>
          </a:p>
          <a:p>
            <a:endParaRPr lang="en-US" sz="2500" b="1" cap="none" dirty="0">
              <a:latin typeface="Aptos" panose="020B0004020202020204" pitchFamily="34" charset="0"/>
            </a:endParaRPr>
          </a:p>
          <a:p>
            <a:endParaRPr lang="en-US" sz="2500" b="1" cap="none" dirty="0">
              <a:latin typeface="Aptos" panose="020B0004020202020204" pitchFamily="34" charset="0"/>
            </a:endParaRPr>
          </a:p>
          <a:p>
            <a:endParaRPr lang="en-US" sz="2500" b="1" cap="none" dirty="0">
              <a:latin typeface="Aptos" panose="020B0004020202020204" pitchFamily="34" charset="0"/>
            </a:endParaRPr>
          </a:p>
          <a:p>
            <a:endParaRPr lang="en-US" sz="2500" b="1" cap="none" dirty="0">
              <a:latin typeface="Aptos" panose="020B0004020202020204" pitchFamily="34" charset="0"/>
            </a:endParaRPr>
          </a:p>
          <a:p>
            <a:endParaRPr lang="en-IN" b="1" cap="none" dirty="0">
              <a:latin typeface="Aptos" panose="020B00040202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243C881-C820-BA2B-2686-5BB15C5D92AD}"/>
              </a:ext>
            </a:extLst>
          </p:cNvPr>
          <p:cNvSpPr txBox="1"/>
          <p:nvPr/>
        </p:nvSpPr>
        <p:spPr>
          <a:xfrm>
            <a:off x="-50241" y="1501928"/>
            <a:ext cx="13196833" cy="58785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 sz="2200" b="1" dirty="0">
              <a:solidFill>
                <a:schemeClr val="bg2">
                  <a:lumMod val="40000"/>
                  <a:lumOff val="60000"/>
                </a:schemeClr>
              </a:solidFill>
              <a:latin typeface="Aptos"/>
            </a:endParaRPr>
          </a:p>
          <a:p>
            <a:pPr marL="457200" indent="-457200">
              <a:buFont typeface="Wingdings"/>
              <a:buChar char="Ø"/>
            </a:pPr>
            <a:r>
              <a:rPr lang="en-US" sz="2200" b="1">
                <a:solidFill>
                  <a:schemeClr val="bg2">
                    <a:lumMod val="40000"/>
                    <a:lumOff val="60000"/>
                  </a:schemeClr>
                </a:solidFill>
                <a:ea typeface="+mn-lt"/>
                <a:cs typeface="+mn-lt"/>
              </a:rPr>
              <a:t>Z-Test (Technical Score vs Placement)</a:t>
            </a:r>
            <a:endParaRPr lang="en-US">
              <a:solidFill>
                <a:schemeClr val="bg2">
                  <a:lumMod val="40000"/>
                  <a:lumOff val="60000"/>
                </a:schemeClr>
              </a:solidFill>
            </a:endParaRPr>
          </a:p>
          <a:p>
            <a:r>
              <a:rPr lang="en-US" b="1">
                <a:latin typeface="Aptos"/>
                <a:ea typeface="+mn-lt"/>
                <a:cs typeface="+mn-lt"/>
              </a:rPr>
              <a:t>Compared the average Technical Score of Placed vs Not Placed students to check if technical skills impact placement</a:t>
            </a:r>
          </a:p>
          <a:p>
            <a:r>
              <a:rPr lang="en-US" sz="1600">
                <a:latin typeface="Aptos"/>
                <a:ea typeface="+mn-lt"/>
                <a:cs typeface="+mn-lt"/>
              </a:rPr>
              <a:t>Sample size of placed students was </a:t>
            </a:r>
            <a:r>
              <a:rPr lang="en-US" sz="1600" b="1">
                <a:latin typeface="Aptos"/>
                <a:ea typeface="+mn-lt"/>
                <a:cs typeface="+mn-lt"/>
              </a:rPr>
              <a:t>5,938</a:t>
            </a:r>
            <a:r>
              <a:rPr lang="en-US" sz="1600">
                <a:latin typeface="Aptos"/>
                <a:ea typeface="+mn-lt"/>
                <a:cs typeface="+mn-lt"/>
              </a:rPr>
              <a:t>, and sample size of not placed students was </a:t>
            </a:r>
            <a:r>
              <a:rPr lang="en-US" sz="1600" b="1">
                <a:latin typeface="Aptos"/>
                <a:ea typeface="+mn-lt"/>
                <a:cs typeface="+mn-lt"/>
              </a:rPr>
              <a:t>24,809</a:t>
            </a:r>
            <a:endParaRPr lang="en-US" sz="1600">
              <a:latin typeface="Aptos"/>
            </a:endParaRPr>
          </a:p>
          <a:p>
            <a:r>
              <a:rPr lang="en-US" sz="1600" dirty="0">
                <a:latin typeface="Aptos"/>
                <a:ea typeface="+mn-lt"/>
                <a:cs typeface="+mn-lt"/>
              </a:rPr>
              <a:t>The average Technical </a:t>
            </a:r>
            <a:r>
              <a:rPr lang="en-US" sz="1600" dirty="0" err="1">
                <a:latin typeface="Aptos"/>
                <a:ea typeface="+mn-lt"/>
                <a:cs typeface="+mn-lt"/>
              </a:rPr>
              <a:t>Score:Placed</a:t>
            </a:r>
            <a:r>
              <a:rPr lang="en-US" sz="1600" dirty="0">
                <a:latin typeface="Aptos"/>
                <a:ea typeface="+mn-lt"/>
                <a:cs typeface="+mn-lt"/>
              </a:rPr>
              <a:t> students → around </a:t>
            </a:r>
            <a:r>
              <a:rPr lang="en-US" sz="1600" b="1" dirty="0">
                <a:latin typeface="Aptos"/>
                <a:ea typeface="+mn-lt"/>
                <a:cs typeface="+mn-lt"/>
              </a:rPr>
              <a:t>62.82</a:t>
            </a:r>
            <a:r>
              <a:rPr lang="en-US" sz="1600" dirty="0">
                <a:latin typeface="Aptos"/>
                <a:ea typeface="+mn-lt"/>
                <a:cs typeface="+mn-lt"/>
              </a:rPr>
              <a:t>  , Not placed students → around </a:t>
            </a:r>
            <a:r>
              <a:rPr lang="en-US" sz="1600" b="1" dirty="0">
                <a:latin typeface="Aptos"/>
                <a:ea typeface="+mn-lt"/>
                <a:cs typeface="+mn-lt"/>
              </a:rPr>
              <a:t>64.39</a:t>
            </a:r>
            <a:r>
              <a:rPr lang="en-US" sz="1600" dirty="0">
                <a:latin typeface="Aptos"/>
                <a:ea typeface="+mn-lt"/>
                <a:cs typeface="+mn-lt"/>
              </a:rPr>
              <a:t> </a:t>
            </a:r>
            <a:endParaRPr lang="en-US" sz="1600">
              <a:latin typeface="Aptos"/>
            </a:endParaRPr>
          </a:p>
          <a:p>
            <a:pPr marL="342900" indent="-342900">
              <a:buFont typeface="Wingdings"/>
              <a:buChar char="Ø"/>
            </a:pPr>
            <a:r>
              <a:rPr lang="en-US" sz="2000" b="1">
                <a:solidFill>
                  <a:schemeClr val="bg2">
                    <a:lumMod val="40000"/>
                    <a:lumOff val="60000"/>
                  </a:schemeClr>
                </a:solidFill>
                <a:latin typeface="Aptos"/>
                <a:ea typeface="+mn-lt"/>
                <a:cs typeface="+mn-lt"/>
              </a:rPr>
              <a:t>Conclusion:</a:t>
            </a:r>
            <a:br>
              <a:rPr lang="en-US" b="1" dirty="0">
                <a:latin typeface="Aptos"/>
                <a:ea typeface="+mn-lt"/>
                <a:cs typeface="+mn-lt"/>
              </a:rPr>
            </a:br>
            <a:r>
              <a:rPr lang="en-US" b="1" dirty="0">
                <a:latin typeface="Aptos"/>
                <a:ea typeface="+mn-lt"/>
                <a:cs typeface="+mn-lt"/>
              </a:rPr>
              <a:t> </a:t>
            </a:r>
            <a:r>
              <a:rPr lang="en-US" b="1">
                <a:latin typeface="Aptos"/>
                <a:ea typeface="+mn-lt"/>
                <a:cs typeface="+mn-lt"/>
              </a:rPr>
              <a:t>Higher technical scores do not guarantee placement, suggesting that other factors such as communication skills, internships, and projects also influence placement outcomes</a:t>
            </a:r>
            <a:r>
              <a:rPr lang="en-US" b="1">
                <a:solidFill>
                  <a:schemeClr val="bg2">
                    <a:lumMod val="40000"/>
                    <a:lumOff val="60000"/>
                  </a:schemeClr>
                </a:solidFill>
                <a:ea typeface="+mn-lt"/>
                <a:cs typeface="+mn-lt"/>
              </a:rPr>
              <a:t>.</a:t>
            </a:r>
            <a:endParaRPr lang="en-US">
              <a:solidFill>
                <a:schemeClr val="bg2">
                  <a:lumMod val="40000"/>
                  <a:lumOff val="60000"/>
                </a:schemeClr>
              </a:solidFill>
            </a:endParaRPr>
          </a:p>
          <a:p>
            <a:endParaRPr lang="en-US" sz="2200" b="1" dirty="0">
              <a:solidFill>
                <a:schemeClr val="bg2">
                  <a:lumMod val="40000"/>
                  <a:lumOff val="60000"/>
                </a:schemeClr>
              </a:solidFill>
              <a:latin typeface="Aptos"/>
            </a:endParaRPr>
          </a:p>
          <a:p>
            <a:endParaRPr lang="en-US" sz="2200" b="1" dirty="0">
              <a:solidFill>
                <a:schemeClr val="bg2">
                  <a:lumMod val="40000"/>
                  <a:lumOff val="60000"/>
                </a:schemeClr>
              </a:solidFill>
              <a:latin typeface="Aptos"/>
            </a:endParaRPr>
          </a:p>
          <a:p>
            <a:pPr marL="342900" indent="-342900">
              <a:buFont typeface="Wingdings"/>
              <a:buChar char="Ø"/>
            </a:pPr>
            <a:r>
              <a:rPr lang="en-US" sz="2200" b="1">
                <a:solidFill>
                  <a:schemeClr val="bg2">
                    <a:lumMod val="40000"/>
                    <a:lumOff val="60000"/>
                  </a:schemeClr>
                </a:solidFill>
                <a:latin typeface="Aptos"/>
              </a:rPr>
              <a:t>Chi-Square Test (Internship vs Placement)</a:t>
            </a:r>
            <a:endParaRPr lang="en-US" sz="2200">
              <a:solidFill>
                <a:schemeClr val="bg2">
                  <a:lumMod val="40000"/>
                  <a:lumOff val="60000"/>
                </a:schemeClr>
              </a:solidFill>
              <a:latin typeface="Aptos"/>
            </a:endParaRPr>
          </a:p>
          <a:p>
            <a:r>
              <a:rPr lang="en-US" b="1">
                <a:latin typeface="Aptos"/>
                <a:ea typeface="+mn-lt"/>
                <a:cs typeface="+mn-lt"/>
              </a:rPr>
              <a:t>Analyzed whether internship completion and placement status are related.</a:t>
            </a:r>
            <a:endParaRPr lang="en-US" b="1">
              <a:latin typeface="Aptos"/>
            </a:endParaRPr>
          </a:p>
          <a:p>
            <a:r>
              <a:rPr lang="en-US" sz="1600">
                <a:solidFill>
                  <a:srgbClr val="FFFFFF"/>
                </a:solidFill>
                <a:latin typeface="Aptos"/>
                <a:ea typeface="+mn-lt"/>
                <a:cs typeface="+mn-lt"/>
              </a:rPr>
              <a:t>Students without internships: 2391 not placed, 1162 placed </a:t>
            </a:r>
          </a:p>
          <a:p>
            <a:r>
              <a:rPr lang="en-US" sz="1600">
                <a:solidFill>
                  <a:srgbClr val="FFFFFF"/>
                </a:solidFill>
                <a:latin typeface="Aptos"/>
                <a:ea typeface="+mn-lt"/>
                <a:cs typeface="+mn-lt"/>
              </a:rPr>
              <a:t>Students with internships:  22418 not placed, 4776 placed</a:t>
            </a:r>
            <a:endParaRPr lang="en-US" sz="1600">
              <a:latin typeface="Aptos"/>
            </a:endParaRPr>
          </a:p>
          <a:p>
            <a:pPr marL="285750" indent="-285750">
              <a:buFont typeface="Wingdings"/>
              <a:buChar char="Ø"/>
            </a:pPr>
            <a:r>
              <a:rPr lang="en-US" sz="2000" b="1">
                <a:solidFill>
                  <a:schemeClr val="bg2">
                    <a:lumMod val="40000"/>
                    <a:lumOff val="60000"/>
                  </a:schemeClr>
                </a:solidFill>
                <a:latin typeface="Aptos"/>
                <a:ea typeface="+mn-lt"/>
                <a:cs typeface="+mn-lt"/>
              </a:rPr>
              <a:t>Conclusion:</a:t>
            </a:r>
            <a:br>
              <a:rPr lang="en-US" b="1" dirty="0">
                <a:latin typeface="Aptos"/>
                <a:ea typeface="+mn-lt"/>
                <a:cs typeface="+mn-lt"/>
              </a:rPr>
            </a:br>
            <a:r>
              <a:rPr lang="en-US" b="1">
                <a:solidFill>
                  <a:srgbClr val="FFFFFF"/>
                </a:solidFill>
                <a:latin typeface="Aptos"/>
                <a:ea typeface="+mn-lt"/>
                <a:cs typeface="+mn-lt"/>
              </a:rPr>
              <a:t>Students with internships  are more</a:t>
            </a:r>
            <a:r>
              <a:rPr lang="en-US" b="1" dirty="0">
                <a:solidFill>
                  <a:srgbClr val="FFFFFF"/>
                </a:solidFill>
                <a:latin typeface="Aptos"/>
                <a:ea typeface="+mn-lt"/>
                <a:cs typeface="+mn-lt"/>
              </a:rPr>
              <a:t> likely to get placed compared to those without internships (≈ 1162 placed).</a:t>
            </a:r>
            <a:endParaRPr lang="en-US" b="1" dirty="0">
              <a:solidFill>
                <a:srgbClr val="FFFFFF"/>
              </a:solidFill>
              <a:latin typeface="Aptos"/>
            </a:endParaRPr>
          </a:p>
          <a:p>
            <a:endParaRPr lang="en-US" dirty="0">
              <a:latin typeface="Aptos"/>
            </a:endParaRPr>
          </a:p>
          <a:p>
            <a:br>
              <a:rPr lang="en-US" dirty="0"/>
            </a:br>
            <a:endParaRPr lang="en-US">
              <a:latin typeface="Aptos"/>
            </a:endParaRPr>
          </a:p>
          <a:p>
            <a:endParaRPr lang="en-US" dirty="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5304663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035B4-E1CB-25DE-EACF-014BD3264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5DEB1-8145-77B0-85D0-0FEF5B5C7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42237" cy="1400530"/>
          </a:xfrm>
        </p:spPr>
        <p:txBody>
          <a:bodyPr/>
          <a:lstStyle/>
          <a:p>
            <a:r>
              <a:rPr lang="en-IN" sz="4000" dirty="0">
                <a:solidFill>
                  <a:schemeClr val="bg2">
                    <a:lumMod val="20000"/>
                    <a:lumOff val="80000"/>
                  </a:schemeClr>
                </a:solidFill>
                <a:latin typeface="Elephant"/>
              </a:rPr>
              <a:t>Machine </a:t>
            </a:r>
            <a:r>
              <a:rPr lang="en-IN" sz="4000">
                <a:solidFill>
                  <a:schemeClr val="bg2">
                    <a:lumMod val="20000"/>
                    <a:lumOff val="80000"/>
                  </a:schemeClr>
                </a:solidFill>
                <a:latin typeface="Elephant"/>
              </a:rPr>
              <a:t>Learning Regression</a:t>
            </a:r>
            <a:r>
              <a:rPr lang="en-IN" sz="4000" dirty="0">
                <a:solidFill>
                  <a:schemeClr val="bg2">
                    <a:lumMod val="20000"/>
                    <a:lumOff val="80000"/>
                  </a:schemeClr>
                </a:solidFill>
                <a:latin typeface="Elephant"/>
              </a:rPr>
              <a:t> Implementation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00032C-B2FE-169E-32E2-349279095DB2}"/>
              </a:ext>
            </a:extLst>
          </p:cNvPr>
          <p:cNvSpPr txBox="1"/>
          <p:nvPr/>
        </p:nvSpPr>
        <p:spPr>
          <a:xfrm>
            <a:off x="-1607737" y="3650900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Add 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EE142D-2B95-8913-DEE5-2F6A50F3B451}"/>
              </a:ext>
            </a:extLst>
          </p:cNvPr>
          <p:cNvSpPr txBox="1"/>
          <p:nvPr/>
        </p:nvSpPr>
        <p:spPr>
          <a:xfrm>
            <a:off x="-1" y="5451231"/>
            <a:ext cx="10480429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Aptos"/>
              </a:rPr>
              <a:t>Business Interpretation: </a:t>
            </a:r>
            <a:r>
              <a:rPr lang="en-US" sz="2100" b="1" dirty="0">
                <a:latin typeface="Aptos"/>
              </a:rPr>
              <a:t>Our regression ML models are able to predict</a:t>
            </a:r>
            <a:r>
              <a:rPr lang="en-US" sz="2000" b="1" dirty="0">
                <a:latin typeface="Aptos"/>
              </a:rPr>
              <a:t>:</a:t>
            </a:r>
            <a:endParaRPr lang="en-US" sz="2000" dirty="0">
              <a:latin typeface="Aptos"/>
            </a:endParaRPr>
          </a:p>
          <a:p>
            <a:pPr marL="342900" indent="-342900">
              <a:buFont typeface="Wingdings,Sans-Serif"/>
              <a:buChar char="Ø"/>
            </a:pPr>
            <a:r>
              <a:rPr lang="en-US" sz="2000">
                <a:latin typeface="Aptos"/>
              </a:rPr>
              <a:t>what will be student's Salary(CTC) based on historical performance of the student</a:t>
            </a:r>
            <a:endParaRPr lang="en-US" sz="2000" dirty="0">
              <a:latin typeface="Aptos"/>
            </a:endParaRPr>
          </a:p>
          <a:p>
            <a:pPr algn="l"/>
            <a:endParaRPr lang="en-US" dirty="0"/>
          </a:p>
        </p:txBody>
      </p:sp>
      <p:pic>
        <p:nvPicPr>
          <p:cNvPr id="5" name="Picture 4" descr="A yellow and blue box with black text&#10;&#10;AI-generated content may be incorrect.">
            <a:extLst>
              <a:ext uri="{FF2B5EF4-FFF2-40B4-BE49-F238E27FC236}">
                <a16:creationId xmlns:a16="http://schemas.microsoft.com/office/drawing/2014/main" id="{9F88A992-6505-8B28-54A8-367F8BA6D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3589"/>
            <a:ext cx="12192000" cy="3913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8630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5CBD3-B7C4-02FB-5C26-2E95918E8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68269-A852-52FF-78F0-412622316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42237" cy="1400530"/>
          </a:xfrm>
        </p:spPr>
        <p:txBody>
          <a:bodyPr/>
          <a:lstStyle/>
          <a:p>
            <a:r>
              <a:rPr lang="en-IN" sz="3600">
                <a:solidFill>
                  <a:schemeClr val="bg2">
                    <a:lumMod val="20000"/>
                    <a:lumOff val="80000"/>
                  </a:schemeClr>
                </a:solidFill>
                <a:latin typeface="Elephant"/>
              </a:rPr>
              <a:t>Machine Learning  Classification Implementation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91766B-577E-0D36-133B-1F96C26B25D0}"/>
              </a:ext>
            </a:extLst>
          </p:cNvPr>
          <p:cNvSpPr txBox="1"/>
          <p:nvPr/>
        </p:nvSpPr>
        <p:spPr>
          <a:xfrm>
            <a:off x="3176" y="5495409"/>
            <a:ext cx="11854280" cy="13542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Aptos"/>
                <a:ea typeface="+mn-lt"/>
                <a:cs typeface="+mn-lt"/>
              </a:rPr>
              <a:t>Business Interpretation:</a:t>
            </a:r>
            <a:r>
              <a:rPr lang="en-US" sz="22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Aptos"/>
              </a:rPr>
              <a:t> </a:t>
            </a:r>
            <a:r>
              <a:rPr lang="en-US" sz="2100" b="1" dirty="0">
                <a:latin typeface="Aptos"/>
              </a:rPr>
              <a:t>Our classification ML models are able to predict</a:t>
            </a:r>
            <a:r>
              <a:rPr lang="en-US" sz="2000" b="1" dirty="0">
                <a:latin typeface="Aptos"/>
              </a:rPr>
              <a:t>:</a:t>
            </a:r>
            <a:endParaRPr lang="en-US" sz="2000" b="1">
              <a:solidFill>
                <a:srgbClr val="CE9178"/>
              </a:solidFill>
              <a:highlight>
                <a:srgbClr val="282A2C"/>
              </a:highlight>
              <a:latin typeface="Aptos"/>
            </a:endParaRPr>
          </a:p>
          <a:p>
            <a:pPr marL="342900" indent="-342900">
              <a:buFont typeface="Wingdings"/>
              <a:buChar char="Ø"/>
            </a:pPr>
            <a:r>
              <a:rPr lang="en-US" sz="2000" dirty="0">
                <a:latin typeface="Aptos"/>
              </a:rPr>
              <a:t> </a:t>
            </a:r>
            <a:r>
              <a:rPr lang="en-US" sz="2000">
                <a:latin typeface="Aptos"/>
                <a:ea typeface="+mn-lt"/>
                <a:cs typeface="+mn-lt"/>
              </a:rPr>
              <a:t>Whether a student will be placed or not in the future.</a:t>
            </a:r>
            <a:r>
              <a:rPr lang="en-US" sz="2000" dirty="0">
                <a:latin typeface="Aptos"/>
              </a:rPr>
              <a:t> </a:t>
            </a:r>
            <a:endParaRPr lang="en-US" sz="2000">
              <a:solidFill>
                <a:srgbClr val="CE9178"/>
              </a:solidFill>
              <a:highlight>
                <a:srgbClr val="282A2C"/>
              </a:highlight>
              <a:latin typeface="Aptos"/>
            </a:endParaRPr>
          </a:p>
          <a:p>
            <a:pPr marL="342900" indent="-342900">
              <a:buFont typeface="Wingdings"/>
              <a:buChar char="Ø"/>
            </a:pPr>
            <a:r>
              <a:rPr lang="en-US" sz="2000" dirty="0">
                <a:latin typeface="Aptos"/>
              </a:rPr>
              <a:t>It can suggest if the chances of interviews getting conducted </a:t>
            </a:r>
            <a:r>
              <a:rPr lang="en-US" sz="2000">
                <a:latin typeface="Aptos"/>
              </a:rPr>
              <a:t>On-campus and Off-campus</a:t>
            </a:r>
            <a:endParaRPr lang="en-US" sz="2000" dirty="0">
              <a:solidFill>
                <a:srgbClr val="FFFFFF"/>
              </a:solidFill>
              <a:latin typeface="Aptos"/>
              <a:ea typeface="+mn-lt"/>
              <a:cs typeface="+mn-lt"/>
            </a:endParaRPr>
          </a:p>
          <a:p>
            <a:endParaRPr lang="en-US" sz="2000" dirty="0">
              <a:latin typeface="Aptos"/>
            </a:endParaRPr>
          </a:p>
        </p:txBody>
      </p:sp>
      <p:pic>
        <p:nvPicPr>
          <p:cNvPr id="3" name="Picture 2" descr="A yellow and blue text with black text&#10;&#10;AI-generated content may be incorrect.">
            <a:extLst>
              <a:ext uri="{FF2B5EF4-FFF2-40B4-BE49-F238E27FC236}">
                <a16:creationId xmlns:a16="http://schemas.microsoft.com/office/drawing/2014/main" id="{F794EFAF-6D12-7565-9F69-6DEE724745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27221"/>
            <a:ext cx="12196187" cy="3510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5908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CDE9B-7296-259A-DECB-C9593A7BF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2D3A4-EF8B-0F28-1C8B-AD0E8FC52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380237" cy="731457"/>
          </a:xfrm>
        </p:spPr>
        <p:txBody>
          <a:bodyPr/>
          <a:lstStyle/>
          <a:p>
            <a:r>
              <a:rPr lang="en-IN" sz="3600" dirty="0">
                <a:solidFill>
                  <a:schemeClr val="bg2">
                    <a:lumMod val="20000"/>
                    <a:lumOff val="80000"/>
                  </a:schemeClr>
                </a:solidFill>
                <a:latin typeface="Elephant"/>
              </a:rPr>
              <a:t>Predicting CTC using </a:t>
            </a:r>
            <a:r>
              <a:rPr lang="en-IN" sz="3600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Elephant"/>
              </a:rPr>
              <a:t>KMeans</a:t>
            </a:r>
            <a:r>
              <a:rPr lang="en-IN" sz="3600" dirty="0">
                <a:solidFill>
                  <a:schemeClr val="bg2">
                    <a:lumMod val="20000"/>
                    <a:lumOff val="80000"/>
                  </a:schemeClr>
                </a:solidFill>
                <a:latin typeface="Elephant"/>
              </a:rPr>
              <a:t> ML Algorithm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B345CF52-D3E4-3D42-914B-25EF01866C51}"/>
              </a:ext>
            </a:extLst>
          </p:cNvPr>
          <p:cNvSpPr txBox="1"/>
          <p:nvPr/>
        </p:nvSpPr>
        <p:spPr>
          <a:xfrm>
            <a:off x="24916" y="5106989"/>
            <a:ext cx="7761031" cy="175432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/>
              <a:buChar char="q"/>
            </a:pPr>
            <a:r>
              <a:rPr lang="en-US" sz="2800" b="1">
                <a:solidFill>
                  <a:schemeClr val="bg2">
                    <a:lumMod val="40000"/>
                    <a:lumOff val="60000"/>
                  </a:schemeClr>
                </a:solidFill>
                <a:latin typeface="Aptos"/>
                <a:ea typeface="+mn-lt"/>
                <a:cs typeface="+mn-lt"/>
              </a:rPr>
              <a:t>Input Columns:</a:t>
            </a:r>
            <a:r>
              <a:rPr lang="en-US" sz="20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400" b="1">
                <a:latin typeface="Aptos"/>
                <a:ea typeface="+mn-lt"/>
                <a:cs typeface="+mn-lt"/>
              </a:rPr>
              <a:t>CTC_LPA and Total Score</a:t>
            </a:r>
            <a:r>
              <a:rPr lang="en-US" sz="24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Aptos"/>
                <a:ea typeface="+mn-lt"/>
                <a:cs typeface="+mn-lt"/>
              </a:rPr>
              <a:t> </a:t>
            </a:r>
            <a:endParaRPr lang="en-US" sz="2400" b="1">
              <a:solidFill>
                <a:schemeClr val="bg2">
                  <a:lumMod val="40000"/>
                  <a:lumOff val="60000"/>
                </a:schemeClr>
              </a:solidFill>
              <a:latin typeface="Aptos"/>
            </a:endParaRPr>
          </a:p>
          <a:p>
            <a:r>
              <a:rPr lang="en-US" sz="2000" dirty="0">
                <a:latin typeface="Aptos"/>
                <a:ea typeface="+mn-lt"/>
                <a:cs typeface="+mn-lt"/>
              </a:rPr>
              <a:t> </a:t>
            </a:r>
            <a:r>
              <a:rPr lang="en-US" sz="2000">
                <a:latin typeface="Aptos"/>
                <a:ea typeface="+mn-lt"/>
                <a:cs typeface="+mn-lt"/>
              </a:rPr>
              <a:t>Created by  adding  Attendance_%,Communication_Score,Quantitative_Score,Technical_Score,Soft_Skills_Score,Projects_Completed,Extra_Curricular_Score.</a:t>
            </a:r>
            <a:endParaRPr lang="en-US" sz="2000"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80D65E-23F0-FB65-B988-500569DD7F20}"/>
              </a:ext>
            </a:extLst>
          </p:cNvPr>
          <p:cNvSpPr txBox="1"/>
          <p:nvPr/>
        </p:nvSpPr>
        <p:spPr>
          <a:xfrm>
            <a:off x="7805063" y="1173655"/>
            <a:ext cx="4387990" cy="53860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Wingdings"/>
              <a:buChar char="q"/>
            </a:pPr>
            <a:r>
              <a:rPr lang="en-US" sz="2800" b="1">
                <a:solidFill>
                  <a:schemeClr val="bg2">
                    <a:lumMod val="40000"/>
                    <a:lumOff val="60000"/>
                  </a:schemeClr>
                </a:solidFill>
                <a:latin typeface="Aptos"/>
              </a:rPr>
              <a:t>Observations from ML Model: </a:t>
            </a:r>
            <a:endParaRPr lang="en-US" sz="2800">
              <a:solidFill>
                <a:schemeClr val="bg2">
                  <a:lumMod val="40000"/>
                  <a:lumOff val="60000"/>
                </a:schemeClr>
              </a:solidFill>
              <a:latin typeface="Aptos"/>
            </a:endParaRPr>
          </a:p>
          <a:p>
            <a:pPr marL="342900" indent="-342900">
              <a:buFont typeface="Wingdings"/>
              <a:buChar char="q"/>
            </a:pPr>
            <a:r>
              <a:rPr lang="en-US" sz="2000">
                <a:latin typeface="Aptos"/>
              </a:rPr>
              <a:t>Red color  represents:- </a:t>
            </a:r>
            <a:r>
              <a:rPr lang="en-US" sz="2000" b="1">
                <a:solidFill>
                  <a:schemeClr val="accent3">
                    <a:lumMod val="40000"/>
                    <a:lumOff val="60000"/>
                  </a:schemeClr>
                </a:solidFill>
                <a:latin typeface="Aptos"/>
              </a:rPr>
              <a:t>Low Performance Low</a:t>
            </a:r>
            <a:r>
              <a:rPr lang="en-US" sz="2000" b="1" dirty="0">
                <a:solidFill>
                  <a:srgbClr val="FFC000"/>
                </a:solidFill>
                <a:latin typeface="Aptos"/>
              </a:rPr>
              <a:t> </a:t>
            </a:r>
            <a:r>
              <a:rPr lang="en-US" sz="20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Aptos"/>
              </a:rPr>
              <a:t>CTC</a:t>
            </a:r>
            <a:endParaRPr lang="en-US" sz="2000">
              <a:solidFill>
                <a:schemeClr val="accent3">
                  <a:lumMod val="40000"/>
                  <a:lumOff val="60000"/>
                </a:schemeClr>
              </a:solidFill>
              <a:latin typeface="Aptos"/>
            </a:endParaRPr>
          </a:p>
          <a:p>
            <a:pPr marL="342900" indent="-342900">
              <a:buFont typeface="Wingdings"/>
              <a:buChar char="q"/>
            </a:pPr>
            <a:r>
              <a:rPr lang="en-US" sz="2000" dirty="0">
                <a:latin typeface="Aptos"/>
              </a:rPr>
              <a:t>Green color represents:- </a:t>
            </a:r>
            <a:r>
              <a:rPr lang="en-US" sz="20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Aptos"/>
              </a:rPr>
              <a:t>Average Performance</a:t>
            </a:r>
            <a:r>
              <a:rPr lang="en-US" sz="2000" b="1" dirty="0">
                <a:solidFill>
                  <a:srgbClr val="FFC000"/>
                </a:solidFill>
                <a:latin typeface="Aptos"/>
              </a:rPr>
              <a:t> </a:t>
            </a:r>
            <a:r>
              <a:rPr lang="en-US" sz="20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Aptos"/>
              </a:rPr>
              <a:t>High CTC </a:t>
            </a:r>
            <a:endParaRPr lang="en-US" sz="2000">
              <a:solidFill>
                <a:schemeClr val="accent3">
                  <a:lumMod val="40000"/>
                  <a:lumOff val="60000"/>
                </a:schemeClr>
              </a:solidFill>
              <a:latin typeface="Aptos"/>
            </a:endParaRPr>
          </a:p>
          <a:p>
            <a:pPr marL="342900" indent="-342900">
              <a:buFont typeface="Wingdings"/>
              <a:buChar char="q"/>
            </a:pPr>
            <a:r>
              <a:rPr lang="en-US" sz="2000" dirty="0">
                <a:latin typeface="Aptos"/>
              </a:rPr>
              <a:t>Blue color represents:- </a:t>
            </a:r>
            <a:r>
              <a:rPr lang="en-US" sz="20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Aptos"/>
              </a:rPr>
              <a:t>High Performance Low CTC</a:t>
            </a:r>
          </a:p>
          <a:p>
            <a:pPr marL="342900" indent="-342900">
              <a:buFont typeface="Wingdings"/>
              <a:buChar char="q"/>
            </a:pPr>
            <a:endParaRPr lang="en-US" sz="2000" b="1" dirty="0">
              <a:solidFill>
                <a:schemeClr val="accent3">
                  <a:lumMod val="40000"/>
                  <a:lumOff val="60000"/>
                </a:schemeClr>
              </a:solidFill>
              <a:latin typeface="Aptos"/>
            </a:endParaRPr>
          </a:p>
          <a:p>
            <a:pPr marL="457200" indent="-457200">
              <a:buFont typeface="Wingdings"/>
              <a:buChar char="q"/>
            </a:pPr>
            <a:r>
              <a:rPr lang="en-US" sz="2800" b="1">
                <a:solidFill>
                  <a:schemeClr val="bg2">
                    <a:lumMod val="40000"/>
                    <a:lumOff val="60000"/>
                  </a:schemeClr>
                </a:solidFill>
                <a:latin typeface="Aptos"/>
              </a:rPr>
              <a:t>Recommendations:</a:t>
            </a:r>
          </a:p>
          <a:p>
            <a:pPr marL="342900" indent="-342900">
              <a:buFont typeface="Wingdings"/>
              <a:buChar char="q"/>
            </a:pPr>
            <a:r>
              <a:rPr lang="en-US" sz="2000" b="1">
                <a:solidFill>
                  <a:schemeClr val="accent3">
                    <a:lumMod val="40000"/>
                    <a:lumOff val="60000"/>
                  </a:schemeClr>
                </a:solidFill>
                <a:latin typeface="Aptos"/>
              </a:rPr>
              <a:t> Academic Score is not enough for higher package , other skills also play an  important </a:t>
            </a:r>
            <a:r>
              <a:rPr lang="en-US" sz="20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Aptos"/>
              </a:rPr>
              <a:t>role</a:t>
            </a:r>
          </a:p>
          <a:p>
            <a:pPr marL="342900" indent="-342900">
              <a:buFont typeface="Wingdings"/>
              <a:buChar char="q"/>
            </a:pPr>
            <a:r>
              <a:rPr lang="en-US" sz="2000" b="1">
                <a:solidFill>
                  <a:schemeClr val="accent3">
                    <a:lumMod val="40000"/>
                    <a:lumOff val="60000"/>
                  </a:schemeClr>
                </a:solidFill>
                <a:latin typeface="Aptos"/>
              </a:rPr>
              <a:t>Some High Scorers received low CTC which</a:t>
            </a:r>
            <a:r>
              <a:rPr lang="en-US" sz="20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Aptos"/>
              </a:rPr>
              <a:t> is represented by Blue </a:t>
            </a:r>
            <a:r>
              <a:rPr lang="en-US" sz="2000" b="1">
                <a:solidFill>
                  <a:schemeClr val="accent3">
                    <a:lumMod val="40000"/>
                    <a:lumOff val="60000"/>
                  </a:schemeClr>
                </a:solidFill>
                <a:latin typeface="Aptos"/>
              </a:rPr>
              <a:t>color in the graph .</a:t>
            </a:r>
            <a:endParaRPr lang="en-US" sz="2000" b="1" dirty="0">
              <a:solidFill>
                <a:schemeClr val="accent3">
                  <a:lumMod val="40000"/>
                  <a:lumOff val="60000"/>
                </a:schemeClr>
              </a:solidFill>
              <a:latin typeface="Apto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7D10AB-6EEC-B41E-76D0-C43EDB2A13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62" y="736493"/>
            <a:ext cx="7646277" cy="4369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2328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6711C-25A0-55AE-A55F-440E70D2D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26BE4-C7C0-E5DE-1642-CD3B0B326B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160"/>
            <a:ext cx="8825658" cy="1031820"/>
          </a:xfrm>
        </p:spPr>
        <p:txBody>
          <a:bodyPr/>
          <a:lstStyle/>
          <a:p>
            <a:r>
              <a:rPr lang="en-IN" dirty="0">
                <a:solidFill>
                  <a:schemeClr val="bg2">
                    <a:lumMod val="20000"/>
                    <a:lumOff val="80000"/>
                  </a:schemeClr>
                </a:solidFill>
                <a:latin typeface="Elephant" panose="02020904090505020303" pitchFamily="18" charset="0"/>
              </a:rPr>
              <a:t>Summary</a:t>
            </a:r>
            <a:endParaRPr lang="en-IN"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03ED00B-3EDF-2548-0DFA-97672211196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-4173" y="1388790"/>
            <a:ext cx="11975947" cy="2405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defTabSz="914400">
              <a:spcBef>
                <a:spcPct val="0"/>
              </a:spcBef>
              <a:spcAft>
                <a:spcPct val="0"/>
              </a:spcAft>
              <a:buFont typeface="Wingdings" charset="2"/>
              <a:buChar char="Ø"/>
            </a:pPr>
            <a:r>
              <a:rPr lang="en-US" sz="1800" b="1" cap="none" dirty="0">
                <a:solidFill>
                  <a:schemeClr val="tx1"/>
                </a:solidFill>
                <a:latin typeface="Aptos"/>
                <a:ea typeface="+mj-lt"/>
                <a:cs typeface="+mj-lt"/>
              </a:rPr>
              <a:t>CTC will reduce little bit to 4.96 by the end of  2026 and will increase to 5.09 by end of 2027. Overall, maintaining an avg of 5.07 lakhs per annum.</a:t>
            </a:r>
            <a:endParaRPr lang="en-US" dirty="0">
              <a:solidFill>
                <a:schemeClr val="tx1"/>
              </a:solidFill>
              <a:latin typeface="Aptos"/>
            </a:endParaRPr>
          </a:p>
          <a:p>
            <a:pPr marL="285750" indent="-285750" defTabSz="914400">
              <a:spcBef>
                <a:spcPct val="0"/>
              </a:spcBef>
              <a:spcAft>
                <a:spcPct val="0"/>
              </a:spcAft>
              <a:buFont typeface="Wingdings" charset="2"/>
              <a:buChar char="Ø"/>
            </a:pPr>
            <a:r>
              <a:rPr lang="en-US" sz="1800" b="1" cap="none" dirty="0">
                <a:solidFill>
                  <a:srgbClr val="EBEBEB"/>
                </a:solidFill>
                <a:latin typeface="Aptos"/>
              </a:rPr>
              <a:t>Placement % will reduce from </a:t>
            </a:r>
            <a:r>
              <a:rPr lang="en-US" sz="1800" b="1" cap="none" dirty="0" err="1">
                <a:solidFill>
                  <a:srgbClr val="EBEBEB"/>
                </a:solidFill>
                <a:latin typeface="Aptos"/>
              </a:rPr>
              <a:t>2025-2026, and</a:t>
            </a:r>
            <a:r>
              <a:rPr lang="en-US" sz="1800" b="1" cap="none" dirty="0">
                <a:solidFill>
                  <a:srgbClr val="EBEBEB"/>
                </a:solidFill>
                <a:latin typeface="Aptos"/>
              </a:rPr>
              <a:t> will increase in 2026-2027.</a:t>
            </a:r>
            <a:endParaRPr lang="en-US" sz="1800" b="1" cap="none">
              <a:solidFill>
                <a:srgbClr val="FFFFFF"/>
              </a:solidFill>
              <a:latin typeface="Aptos"/>
            </a:endParaRPr>
          </a:p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en-US" sz="1800" cap="none" dirty="0">
              <a:solidFill>
                <a:schemeClr val="tx1"/>
              </a:solidFill>
              <a:latin typeface="Aptos"/>
            </a:endParaRPr>
          </a:p>
          <a:p>
            <a:pPr defTabSz="91440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cap="none">
                <a:latin typeface="Aptos"/>
              </a:rPr>
              <a:t>Impact on CTC and chances of getting PLACED:</a:t>
            </a:r>
            <a:endParaRPr lang="en-US" sz="2400">
              <a:latin typeface="Aptos"/>
            </a:endParaRPr>
          </a:p>
          <a:p>
            <a:pPr defTabSz="914400"/>
            <a:endParaRPr lang="en-US" sz="1600" cap="none" dirty="0">
              <a:solidFill>
                <a:srgbClr val="FFFFFF"/>
              </a:solidFill>
              <a:latin typeface="Aptos"/>
            </a:endParaRPr>
          </a:p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en-US" sz="1600" cap="none" dirty="0">
              <a:solidFill>
                <a:srgbClr val="FFFFFF"/>
              </a:solidFill>
              <a:latin typeface="Aptos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IN" sz="1400" b="1" cap="none">
                <a:solidFill>
                  <a:srgbClr val="FFFFFF"/>
                </a:solidFill>
                <a:latin typeface="Aptos"/>
              </a:rPr>
              <a:t>due</a:t>
            </a:r>
            <a:endParaRPr lang="en-IN" sz="1400" b="1" cap="none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pic>
        <p:nvPicPr>
          <p:cNvPr id="5" name="Picture 4" descr="A yellow and blue chart with black text&#10;&#10;AI-generated content may be incorrect.">
            <a:extLst>
              <a:ext uri="{FF2B5EF4-FFF2-40B4-BE49-F238E27FC236}">
                <a16:creationId xmlns:a16="http://schemas.microsoft.com/office/drawing/2014/main" id="{4FF24AD7-08F7-C90E-9F30-990320574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77081"/>
            <a:ext cx="12192000" cy="3164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3931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16CEB-A49C-AFB5-4255-3E0DF036C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05A9E-CD8D-7805-F871-075DB9D114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945" y="49829"/>
            <a:ext cx="6188190" cy="162232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000" b="1">
                <a:solidFill>
                  <a:schemeClr val="bg2">
                    <a:lumMod val="20000"/>
                    <a:lumOff val="80000"/>
                  </a:schemeClr>
                </a:solidFill>
                <a:latin typeface="Elephant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0B56B1D-8C30-BF84-B12B-98A082EA95E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82671" y="1143507"/>
            <a:ext cx="11625322" cy="533438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fontAlgn="base">
              <a:lnSpc>
                <a:spcPct val="90000"/>
              </a:lnSpc>
              <a:buFont typeface="Wingdings 3" charset="2"/>
              <a:buChar char=""/>
            </a:pPr>
            <a:r>
              <a:rPr kumimoji="0" lang="en-US" altLang="en-US" sz="2600" b="1" u="none" strike="noStrike" cap="none" normalizeH="0" baseline="0">
                <a:ln>
                  <a:noFill/>
                </a:ln>
                <a:effectLst/>
                <a:latin typeface="Aptos"/>
              </a:rPr>
              <a:t>Placement </a:t>
            </a:r>
            <a:r>
              <a:rPr lang="en-US" altLang="en-US" sz="2600" b="1" cap="none">
                <a:latin typeface="Aptos"/>
              </a:rPr>
              <a:t>and CTC depend</a:t>
            </a:r>
            <a:r>
              <a:rPr kumimoji="0" lang="en-US" altLang="en-US" sz="2600" b="1" u="none" strike="noStrike" cap="none" normalizeH="0" baseline="0">
                <a:ln>
                  <a:noFill/>
                </a:ln>
                <a:effectLst/>
                <a:latin typeface="Aptos"/>
              </a:rPr>
              <a:t> on both academic and practical factors</a:t>
            </a:r>
            <a:r>
              <a:rPr lang="en-US" altLang="en-US" sz="2600" b="1" cap="none">
                <a:latin typeface="Aptos"/>
              </a:rPr>
              <a:t>:</a:t>
            </a:r>
          </a:p>
          <a:p>
            <a:pPr>
              <a:lnSpc>
                <a:spcPct val="90000"/>
              </a:lnSpc>
              <a:buClr>
                <a:srgbClr val="8AD0D6"/>
              </a:buClr>
              <a:buFont typeface="Wingdings 3" charset="2"/>
              <a:buChar char=""/>
            </a:pPr>
            <a:r>
              <a:rPr lang="en-US" b="1" cap="none">
                <a:solidFill>
                  <a:srgbClr val="FFFFFF"/>
                </a:solidFill>
                <a:latin typeface="Aptos"/>
              </a:rPr>
              <a:t>  Key success drivers for students:</a:t>
            </a:r>
            <a:endParaRPr lang="en-US" altLang="en-US" b="1" cap="none">
              <a:solidFill>
                <a:srgbClr val="8AD0D6"/>
              </a:solidFill>
              <a:latin typeface="Aptos"/>
            </a:endParaRPr>
          </a:p>
          <a:p>
            <a:pPr marL="285750" indent="-285750" algn="l" fontAlgn="base">
              <a:lnSpc>
                <a:spcPct val="90000"/>
              </a:lnSpc>
              <a:buFont typeface="Wingdings 3" charset="2"/>
              <a:buChar char=""/>
            </a:pPr>
            <a:r>
              <a:rPr lang="en-US" cap="none">
                <a:solidFill>
                  <a:srgbClr val="FFFFFF"/>
                </a:solidFill>
                <a:latin typeface="Aptos"/>
              </a:rPr>
              <a:t>Skills need to be greater </a:t>
            </a:r>
            <a:r>
              <a:rPr lang="en-US" cap="none" err="1">
                <a:solidFill>
                  <a:srgbClr val="FFFFFF"/>
                </a:solidFill>
                <a:latin typeface="Aptos"/>
              </a:rPr>
              <a:t>tha</a:t>
            </a:r>
            <a:r>
              <a:rPr lang="en-US" cap="none">
                <a:solidFill>
                  <a:srgbClr val="FFFFFF"/>
                </a:solidFill>
                <a:latin typeface="Aptos"/>
              </a:rPr>
              <a:t>n 5</a:t>
            </a:r>
            <a:endParaRPr lang="en-US" altLang="en-US" cap="none">
              <a:solidFill>
                <a:srgbClr val="FFFFFF"/>
              </a:solidFill>
              <a:latin typeface="Aptos"/>
            </a:endParaRPr>
          </a:p>
          <a:p>
            <a:pPr marL="285750" indent="-285750">
              <a:lnSpc>
                <a:spcPct val="90000"/>
              </a:lnSpc>
              <a:buClr>
                <a:srgbClr val="8AD0D6"/>
              </a:buClr>
              <a:buFont typeface="Wingdings 3" charset="2"/>
              <a:buChar char=""/>
            </a:pPr>
            <a:r>
              <a:rPr lang="en-US" cap="none">
                <a:solidFill>
                  <a:srgbClr val="FFFFFF"/>
                </a:solidFill>
                <a:latin typeface="Aptos"/>
              </a:rPr>
              <a:t>Quantitative Score need to be greater than 80</a:t>
            </a:r>
            <a:endParaRPr lang="en-US" cap="none" dirty="0">
              <a:solidFill>
                <a:srgbClr val="FFFFFF"/>
              </a:solidFill>
              <a:latin typeface="Aptos"/>
            </a:endParaRPr>
          </a:p>
          <a:p>
            <a:pPr marL="285750" indent="-285750" algn="l">
              <a:lnSpc>
                <a:spcPct val="90000"/>
              </a:lnSpc>
              <a:buClr>
                <a:srgbClr val="8AD0D6"/>
              </a:buClr>
              <a:buFont typeface="Wingdings 3" charset="2"/>
              <a:buChar char=""/>
            </a:pPr>
            <a:r>
              <a:rPr lang="en-US" cap="none">
                <a:solidFill>
                  <a:srgbClr val="FFFFFF"/>
                </a:solidFill>
                <a:latin typeface="Aptos"/>
              </a:rPr>
              <a:t>Working on more Projects (Min 4) </a:t>
            </a:r>
            <a:endParaRPr lang="en-US" cap="all">
              <a:solidFill>
                <a:srgbClr val="8AD0D6"/>
              </a:solidFill>
              <a:latin typeface="Century Gothic" panose="020B0502020202020204"/>
            </a:endParaRPr>
          </a:p>
          <a:p>
            <a:pPr marL="285750" indent="-285750">
              <a:lnSpc>
                <a:spcPct val="90000"/>
              </a:lnSpc>
              <a:buClr>
                <a:srgbClr val="8AD0D6"/>
              </a:buClr>
              <a:buFont typeface="Wingdings 3" charset="2"/>
              <a:buChar char=""/>
            </a:pPr>
            <a:r>
              <a:rPr lang="en-US" cap="none">
                <a:solidFill>
                  <a:srgbClr val="FFFFFF"/>
                </a:solidFill>
                <a:latin typeface="Aptos"/>
              </a:rPr>
              <a:t>Balanced profile need to be greater than 7</a:t>
            </a:r>
            <a:endParaRPr lang="en-US" cap="all">
              <a:solidFill>
                <a:srgbClr val="8AD0D6"/>
              </a:solidFill>
              <a:latin typeface="Century Gothic" panose="020B0502020202020204"/>
            </a:endParaRPr>
          </a:p>
          <a:p>
            <a:pPr marL="285750" indent="-285750">
              <a:lnSpc>
                <a:spcPct val="90000"/>
              </a:lnSpc>
              <a:buClr>
                <a:srgbClr val="8AD0D6"/>
              </a:buClr>
              <a:buFont typeface="Wingdings 3" charset="2"/>
              <a:buChar char=""/>
            </a:pPr>
            <a:r>
              <a:rPr lang="en-US" cap="none" dirty="0" err="1">
                <a:solidFill>
                  <a:srgbClr val="FFFFFF"/>
                </a:solidFill>
                <a:latin typeface="Aptos"/>
              </a:rPr>
              <a:t>MInimum</a:t>
            </a:r>
            <a:r>
              <a:rPr lang="en-US" cap="none" dirty="0">
                <a:solidFill>
                  <a:srgbClr val="FFFFFF"/>
                </a:solidFill>
                <a:latin typeface="Aptos"/>
              </a:rPr>
              <a:t> one Internship before placement</a:t>
            </a:r>
            <a:endParaRPr lang="en-US" altLang="en-US" cap="none">
              <a:solidFill>
                <a:srgbClr val="FFFFFF"/>
              </a:solidFill>
              <a:latin typeface="Aptos"/>
            </a:endParaRPr>
          </a:p>
          <a:p>
            <a:pPr marL="285750" indent="-285750">
              <a:lnSpc>
                <a:spcPct val="90000"/>
              </a:lnSpc>
              <a:buFont typeface="Wingdings 3" charset="2"/>
              <a:buChar char=""/>
            </a:pPr>
            <a:r>
              <a:rPr lang="en-US" cap="none">
                <a:solidFill>
                  <a:srgbClr val="FFFFFF"/>
                </a:solidFill>
                <a:latin typeface="Aptos"/>
              </a:rPr>
              <a:t>Job Roles like Data Analyst and Business Analyst lead higher salary opportunities.</a:t>
            </a:r>
          </a:p>
          <a:p>
            <a:pPr marL="285750" indent="-285750">
              <a:lnSpc>
                <a:spcPct val="90000"/>
              </a:lnSpc>
              <a:buFont typeface="Wingdings 3" charset="2"/>
              <a:buChar char=""/>
            </a:pPr>
            <a:r>
              <a:rPr lang="en-US" cap="none" dirty="0">
                <a:solidFill>
                  <a:srgbClr val="FFFFFF"/>
                </a:solidFill>
                <a:latin typeface="Aptos"/>
              </a:rPr>
              <a:t>Placement and </a:t>
            </a:r>
            <a:r>
              <a:rPr lang="en-US" cap="none" dirty="0" err="1">
                <a:solidFill>
                  <a:srgbClr val="FFFFFF"/>
                </a:solidFill>
                <a:latin typeface="Aptos"/>
              </a:rPr>
              <a:t>ctc</a:t>
            </a:r>
            <a:r>
              <a:rPr lang="en-US" cap="none" dirty="0">
                <a:solidFill>
                  <a:srgbClr val="FFFFFF"/>
                </a:solidFill>
                <a:latin typeface="Aptos"/>
              </a:rPr>
              <a:t> both will have a sharp decline from </a:t>
            </a:r>
            <a:r>
              <a:rPr lang="en-US" cap="none" dirty="0" err="1">
                <a:solidFill>
                  <a:srgbClr val="FFFFFF"/>
                </a:solidFill>
                <a:latin typeface="Aptos"/>
              </a:rPr>
              <a:t>2025-2026</a:t>
            </a:r>
            <a:r>
              <a:rPr lang="en-US" cap="none" dirty="0">
                <a:solidFill>
                  <a:srgbClr val="FFFFFF"/>
                </a:solidFill>
                <a:latin typeface="Aptos"/>
              </a:rPr>
              <a:t> so students are recommended to </a:t>
            </a:r>
            <a:r>
              <a:rPr lang="en-US" cap="none" dirty="0" err="1">
                <a:solidFill>
                  <a:srgbClr val="FFFFFF"/>
                </a:solidFill>
                <a:latin typeface="Aptos"/>
              </a:rPr>
              <a:t>uItlize</a:t>
            </a:r>
            <a:r>
              <a:rPr lang="en-US" cap="none" dirty="0">
                <a:solidFill>
                  <a:srgbClr val="FFFFFF"/>
                </a:solidFill>
                <a:latin typeface="Aptos"/>
              </a:rPr>
              <a:t> this </a:t>
            </a:r>
            <a:r>
              <a:rPr lang="en-US" cap="none" dirty="0" err="1">
                <a:solidFill>
                  <a:srgbClr val="FFFFFF"/>
                </a:solidFill>
                <a:latin typeface="Aptos"/>
              </a:rPr>
              <a:t>one year</a:t>
            </a:r>
            <a:r>
              <a:rPr lang="en-US" cap="none" dirty="0">
                <a:solidFill>
                  <a:srgbClr val="FFFFFF"/>
                </a:solidFill>
                <a:latin typeface="Aptos"/>
              </a:rPr>
              <a:t> period for upskilling themselves for Data Analyst and Business Analyst roles</a:t>
            </a:r>
          </a:p>
          <a:p>
            <a:pPr marL="285750" indent="-285750">
              <a:lnSpc>
                <a:spcPct val="90000"/>
              </a:lnSpc>
              <a:buClr>
                <a:srgbClr val="8AD0D6"/>
              </a:buClr>
              <a:buFont typeface="Wingdings 3" charset="2"/>
              <a:buChar char=""/>
            </a:pPr>
            <a:r>
              <a:rPr lang="en-US" cap="none" dirty="0">
                <a:solidFill>
                  <a:srgbClr val="FFFFFF"/>
                </a:solidFill>
                <a:latin typeface="Aptos"/>
              </a:rPr>
              <a:t>From 2026-2027 there will be an upward trend of placements and </a:t>
            </a:r>
            <a:r>
              <a:rPr lang="en-US" cap="none" dirty="0" err="1">
                <a:solidFill>
                  <a:srgbClr val="FFFFFF"/>
                </a:solidFill>
                <a:latin typeface="Aptos"/>
              </a:rPr>
              <a:t>ctc</a:t>
            </a:r>
            <a:r>
              <a:rPr lang="en-US" cap="none" dirty="0">
                <a:solidFill>
                  <a:srgbClr val="FFFFFF"/>
                </a:solidFill>
                <a:latin typeface="Aptos"/>
              </a:rPr>
              <a:t> so students are expected to keep their </a:t>
            </a:r>
            <a:r>
              <a:rPr lang="en-US" cap="none" dirty="0">
                <a:solidFill>
                  <a:srgbClr val="FFFFFF"/>
                </a:solidFill>
                <a:latin typeface="Aptos"/>
                <a:ea typeface="+mj-lt"/>
                <a:cs typeface="+mj-lt"/>
              </a:rPr>
              <a:t>preparation</a:t>
            </a:r>
            <a:r>
              <a:rPr lang="en-US" cap="none" dirty="0">
                <a:solidFill>
                  <a:srgbClr val="FFFFFF"/>
                </a:solidFill>
                <a:latin typeface="Aptos"/>
              </a:rPr>
              <a:t> up to date</a:t>
            </a:r>
            <a:endParaRPr lang="en-US"/>
          </a:p>
          <a:p>
            <a:pPr marL="342900" indent="-342900">
              <a:lnSpc>
                <a:spcPct val="90000"/>
              </a:lnSpc>
              <a:buClr>
                <a:srgbClr val="1E5155">
                  <a:lumMod val="40000"/>
                  <a:lumOff val="60000"/>
                </a:srgbClr>
              </a:buClr>
              <a:buChar char=""/>
            </a:pPr>
            <a:endParaRPr lang="en-US" sz="2400" cap="none" dirty="0">
              <a:solidFill>
                <a:srgbClr val="FFFFFF"/>
              </a:solidFill>
              <a:latin typeface="Aptos"/>
            </a:endParaRPr>
          </a:p>
          <a:p>
            <a:pPr marL="342900" indent="-342900">
              <a:lnSpc>
                <a:spcPct val="90000"/>
              </a:lnSpc>
              <a:buFont typeface="Wingdings 3" charset="2"/>
              <a:buChar char=""/>
            </a:pPr>
            <a:endParaRPr lang="en-US" sz="2400" cap="none" dirty="0">
              <a:solidFill>
                <a:srgbClr val="FFFFFF"/>
              </a:solidFill>
              <a:latin typeface="Aptos"/>
            </a:endParaRPr>
          </a:p>
          <a:p>
            <a:pPr fontAlgn="base">
              <a:lnSpc>
                <a:spcPct val="90000"/>
              </a:lnSpc>
              <a:buFont typeface="Wingdings 3" charset="2"/>
              <a:buChar char=""/>
            </a:pPr>
            <a:endParaRPr lang="en-US" altLang="en-US" sz="240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40763957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4CC4F-DE3E-887A-A17B-454E59439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94A98-5F5A-C755-3092-80CD031FD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702" y="2599571"/>
            <a:ext cx="9404723" cy="1400530"/>
          </a:xfrm>
        </p:spPr>
        <p:txBody>
          <a:bodyPr/>
          <a:lstStyle/>
          <a:p>
            <a:pPr algn="ctr"/>
            <a:r>
              <a:rPr lang="en-US" sz="6000">
                <a:solidFill>
                  <a:schemeClr val="bg2">
                    <a:lumMod val="20000"/>
                    <a:lumOff val="80000"/>
                  </a:schemeClr>
                </a:solidFill>
                <a:latin typeface="Elephant"/>
              </a:rPr>
              <a:t>THANK YOU</a:t>
            </a:r>
            <a:endParaRPr lang="en-IN" sz="6000"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3328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1361</TotalTime>
  <Words>710</Words>
  <Application>Microsoft Office PowerPoint</Application>
  <PresentationFormat>Widescreen</PresentationFormat>
  <Paragraphs>89</Paragraphs>
  <Slides>16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Ion</vt:lpstr>
      <vt:lpstr>Campus Placement Analysis</vt:lpstr>
      <vt:lpstr>Business Problem</vt:lpstr>
      <vt:lpstr>Business Objectives My Role as an analyst is to support the institute to achieve the following:-  </vt:lpstr>
      <vt:lpstr>Dataset Description</vt:lpstr>
      <vt:lpstr>The above chart suggests that  from 2025-2026, Placement will observe a sharp decline It also indicates that from 2026-2027 there will be an upward trend of placements. </vt:lpstr>
      <vt:lpstr>PowerPoint Presentation</vt:lpstr>
      <vt:lpstr>PowerPoint Presentation</vt:lpstr>
      <vt:lpstr>INSIGHTS REGARDING WHY STUDENTS ARE NOT GETTING PLACED</vt:lpstr>
      <vt:lpstr>INSIGHTS ON WHICH STUDENTS RECEIVED HIGHER CTC</vt:lpstr>
      <vt:lpstr>Statistical Approach</vt:lpstr>
      <vt:lpstr>Machine Learning Regression Implementation</vt:lpstr>
      <vt:lpstr>Machine Learning  Classification Implementation</vt:lpstr>
      <vt:lpstr>Predicting CTC using KMeans ML Algorithm</vt:lpstr>
      <vt:lpstr>Summary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Upender singh Taliyan</dc:creator>
  <cp:lastModifiedBy>Upender singh Taliyan</cp:lastModifiedBy>
  <cp:revision>2195</cp:revision>
  <dcterms:created xsi:type="dcterms:W3CDTF">2026-03-26T18:40:11Z</dcterms:created>
  <dcterms:modified xsi:type="dcterms:W3CDTF">2026-04-15T14:07:43Z</dcterms:modified>
</cp:coreProperties>
</file>